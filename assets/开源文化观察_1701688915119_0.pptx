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8" r:id="rId3"/>
    <p:sldId id="847" r:id="rId4"/>
    <p:sldId id="848" r:id="rId5"/>
    <p:sldId id="849" r:id="rId6"/>
    <p:sldId id="850" r:id="rId7"/>
    <p:sldId id="851" r:id="rId8"/>
    <p:sldId id="852" r:id="rId9"/>
    <p:sldId id="853" r:id="rId10"/>
    <p:sldId id="854" r:id="rId11"/>
    <p:sldId id="855" r:id="rId12"/>
    <p:sldId id="856" r:id="rId13"/>
    <p:sldId id="857" r:id="rId14"/>
    <p:sldId id="858" r:id="rId15"/>
    <p:sldId id="859" r:id="rId16"/>
    <p:sldId id="860" r:id="rId17"/>
    <p:sldId id="861" r:id="rId18"/>
    <p:sldId id="862" r:id="rId19"/>
    <p:sldId id="863" r:id="rId20"/>
    <p:sldId id="864" r:id="rId21"/>
    <p:sldId id="865" r:id="rId22"/>
    <p:sldId id="843"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8FB7"/>
    <a:srgbClr val="32B1BB"/>
    <a:srgbClr val="0F805D"/>
    <a:srgbClr val="00A99D"/>
    <a:srgbClr val="0C5D60"/>
    <a:srgbClr val="EFFBD3"/>
    <a:srgbClr val="CBFFF5"/>
    <a:srgbClr val="7ADFB6"/>
    <a:srgbClr val="B7FFF1"/>
    <a:srgbClr val="BBEF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111" d="100"/>
          <a:sy n="111" d="100"/>
        </p:scale>
        <p:origin x="59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6C20CB-3250-4EB1-88FD-D95887C63C53}" type="datetimeFigureOut">
              <a:rPr lang="zh-CN" altLang="en-US" smtClean="0"/>
              <a:t>2022/10/15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AF1ADF-B09C-4EA2-B027-1DD176C9893A}" type="slidenum">
              <a:rPr lang="zh-CN" altLang="en-US" smtClean="0"/>
              <a:t>‹#›</a:t>
            </a:fld>
            <a:endParaRPr lang="zh-CN" altLang="en-US"/>
          </a:p>
        </p:txBody>
      </p:sp>
    </p:spTree>
    <p:extLst>
      <p:ext uri="{BB962C8B-B14F-4D97-AF65-F5344CB8AC3E}">
        <p14:creationId xmlns:p14="http://schemas.microsoft.com/office/powerpoint/2010/main" val="3532092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9DE544-16CA-3E0B-59F5-C6006023AEC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61AF25D-ED57-04BD-9481-AD84982A9B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3872FAB-782C-113E-96CA-F94281CBD1C5}"/>
              </a:ext>
            </a:extLst>
          </p:cNvPr>
          <p:cNvSpPr>
            <a:spLocks noGrp="1"/>
          </p:cNvSpPr>
          <p:nvPr>
            <p:ph type="dt" sz="half" idx="10"/>
          </p:nvPr>
        </p:nvSpPr>
        <p:spPr/>
        <p:txBody>
          <a:bodyPr/>
          <a:lstStyle/>
          <a:p>
            <a:fld id="{5CB99A3A-7869-41F2-BAD1-8578154A79BE}" type="datetimeFigureOut">
              <a:rPr lang="zh-CN" altLang="en-US" smtClean="0"/>
              <a:t>2022/10/15</a:t>
            </a:fld>
            <a:endParaRPr lang="zh-CN" altLang="en-US"/>
          </a:p>
        </p:txBody>
      </p:sp>
      <p:sp>
        <p:nvSpPr>
          <p:cNvPr id="5" name="页脚占位符 4">
            <a:extLst>
              <a:ext uri="{FF2B5EF4-FFF2-40B4-BE49-F238E27FC236}">
                <a16:creationId xmlns:a16="http://schemas.microsoft.com/office/drawing/2014/main" id="{DAC3C26B-5A51-ACAF-6A4B-3C9BB821695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B886295-C9AB-436D-3592-A9E7D37F4BF5}"/>
              </a:ext>
            </a:extLst>
          </p:cNvPr>
          <p:cNvSpPr>
            <a:spLocks noGrp="1"/>
          </p:cNvSpPr>
          <p:nvPr>
            <p:ph type="sldNum" sz="quarter" idx="12"/>
          </p:nvPr>
        </p:nvSpPr>
        <p:spPr/>
        <p:txBody>
          <a:bodyPr/>
          <a:lstStyle/>
          <a:p>
            <a:fld id="{65703A48-C316-4AA3-8E4E-4433376E065D}" type="slidenum">
              <a:rPr lang="zh-CN" altLang="en-US" smtClean="0"/>
              <a:t>‹#›</a:t>
            </a:fld>
            <a:endParaRPr lang="zh-CN" altLang="en-US"/>
          </a:p>
        </p:txBody>
      </p:sp>
    </p:spTree>
    <p:extLst>
      <p:ext uri="{BB962C8B-B14F-4D97-AF65-F5344CB8AC3E}">
        <p14:creationId xmlns:p14="http://schemas.microsoft.com/office/powerpoint/2010/main" val="3091587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40F3F296-E252-C6E4-FF52-AE940D4E66DC}"/>
              </a:ext>
            </a:extLst>
          </p:cNvPr>
          <p:cNvSpPr/>
          <p:nvPr userDrawn="1"/>
        </p:nvSpPr>
        <p:spPr>
          <a:xfrm>
            <a:off x="0" y="0"/>
            <a:ext cx="12192000" cy="6858000"/>
          </a:xfrm>
          <a:prstGeom prst="rect">
            <a:avLst/>
          </a:prstGeom>
          <a:gradFill flip="none" rotWithShape="1">
            <a:gsLst>
              <a:gs pos="0">
                <a:srgbClr val="B7FFF1"/>
              </a:gs>
              <a:gs pos="100000">
                <a:srgbClr val="B7FFF1">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F590F273-9FD7-9768-BBA2-583BD90B696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1BD96B1-2E83-13ED-E13B-0AD1DE3CDA7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1E95FC2-D156-1537-4EF0-19947D99E7FE}"/>
              </a:ext>
            </a:extLst>
          </p:cNvPr>
          <p:cNvSpPr>
            <a:spLocks noGrp="1"/>
          </p:cNvSpPr>
          <p:nvPr>
            <p:ph type="dt" sz="half" idx="10"/>
          </p:nvPr>
        </p:nvSpPr>
        <p:spPr/>
        <p:txBody>
          <a:bodyPr/>
          <a:lstStyle/>
          <a:p>
            <a:fld id="{5CB99A3A-7869-41F2-BAD1-8578154A79BE}" type="datetimeFigureOut">
              <a:rPr lang="zh-CN" altLang="en-US" smtClean="0"/>
              <a:t>2022/10/15</a:t>
            </a:fld>
            <a:endParaRPr lang="zh-CN" altLang="en-US"/>
          </a:p>
        </p:txBody>
      </p:sp>
      <p:sp>
        <p:nvSpPr>
          <p:cNvPr id="5" name="页脚占位符 4">
            <a:extLst>
              <a:ext uri="{FF2B5EF4-FFF2-40B4-BE49-F238E27FC236}">
                <a16:creationId xmlns:a16="http://schemas.microsoft.com/office/drawing/2014/main" id="{2C12128F-2755-6B13-BCB3-1E73859739D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2C26018-4DDE-B72C-F119-EBF0B3FB2E3A}"/>
              </a:ext>
            </a:extLst>
          </p:cNvPr>
          <p:cNvSpPr>
            <a:spLocks noGrp="1"/>
          </p:cNvSpPr>
          <p:nvPr>
            <p:ph type="sldNum" sz="quarter" idx="12"/>
          </p:nvPr>
        </p:nvSpPr>
        <p:spPr/>
        <p:txBody>
          <a:bodyPr/>
          <a:lstStyle/>
          <a:p>
            <a:fld id="{65703A48-C316-4AA3-8E4E-4433376E065D}" type="slidenum">
              <a:rPr lang="zh-CN" altLang="en-US" smtClean="0"/>
              <a:t>‹#›</a:t>
            </a:fld>
            <a:endParaRPr lang="zh-CN" altLang="en-US"/>
          </a:p>
        </p:txBody>
      </p:sp>
    </p:spTree>
    <p:extLst>
      <p:ext uri="{BB962C8B-B14F-4D97-AF65-F5344CB8AC3E}">
        <p14:creationId xmlns:p14="http://schemas.microsoft.com/office/powerpoint/2010/main" val="3754651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1DCF4C94-EC09-E89D-A00F-977038E96D2A}"/>
              </a:ext>
            </a:extLst>
          </p:cNvPr>
          <p:cNvSpPr/>
          <p:nvPr userDrawn="1"/>
        </p:nvSpPr>
        <p:spPr>
          <a:xfrm>
            <a:off x="0" y="0"/>
            <a:ext cx="12192000" cy="6858000"/>
          </a:xfrm>
          <a:prstGeom prst="rect">
            <a:avLst/>
          </a:prstGeom>
          <a:gradFill flip="none" rotWithShape="1">
            <a:gsLst>
              <a:gs pos="0">
                <a:srgbClr val="E9FFD6"/>
              </a:gs>
              <a:gs pos="100000">
                <a:srgbClr val="E9FFD6">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3A903DCD-EBFD-64DE-BEC4-AE9CD9FBD7B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549C683-6C94-4848-3E79-6EC2081A96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E80C6C2-65DE-F458-1576-20D8C84DE8DA}"/>
              </a:ext>
            </a:extLst>
          </p:cNvPr>
          <p:cNvSpPr>
            <a:spLocks noGrp="1"/>
          </p:cNvSpPr>
          <p:nvPr>
            <p:ph type="dt" sz="half" idx="10"/>
          </p:nvPr>
        </p:nvSpPr>
        <p:spPr/>
        <p:txBody>
          <a:bodyPr/>
          <a:lstStyle/>
          <a:p>
            <a:fld id="{5CB99A3A-7869-41F2-BAD1-8578154A79BE}" type="datetimeFigureOut">
              <a:rPr lang="zh-CN" altLang="en-US" smtClean="0"/>
              <a:t>2022/10/15</a:t>
            </a:fld>
            <a:endParaRPr lang="zh-CN" altLang="en-US"/>
          </a:p>
        </p:txBody>
      </p:sp>
      <p:sp>
        <p:nvSpPr>
          <p:cNvPr id="5" name="页脚占位符 4">
            <a:extLst>
              <a:ext uri="{FF2B5EF4-FFF2-40B4-BE49-F238E27FC236}">
                <a16:creationId xmlns:a16="http://schemas.microsoft.com/office/drawing/2014/main" id="{C027F72D-3BC9-2A4D-BA4A-C14A055FCCA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F37AE99-19EF-C0C4-DC83-F5BA134E9978}"/>
              </a:ext>
            </a:extLst>
          </p:cNvPr>
          <p:cNvSpPr>
            <a:spLocks noGrp="1"/>
          </p:cNvSpPr>
          <p:nvPr>
            <p:ph type="sldNum" sz="quarter" idx="12"/>
          </p:nvPr>
        </p:nvSpPr>
        <p:spPr/>
        <p:txBody>
          <a:bodyPr/>
          <a:lstStyle/>
          <a:p>
            <a:fld id="{65703A48-C316-4AA3-8E4E-4433376E065D}" type="slidenum">
              <a:rPr lang="zh-CN" altLang="en-US" smtClean="0"/>
              <a:t>‹#›</a:t>
            </a:fld>
            <a:endParaRPr lang="zh-CN" altLang="en-US"/>
          </a:p>
        </p:txBody>
      </p:sp>
    </p:spTree>
    <p:extLst>
      <p:ext uri="{BB962C8B-B14F-4D97-AF65-F5344CB8AC3E}">
        <p14:creationId xmlns:p14="http://schemas.microsoft.com/office/powerpoint/2010/main" val="2521690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1C0EEA-D730-5709-ABA2-0C4B709FCF5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D6699BD-FDAF-1716-8C5D-C7636DB1781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588213D-3E7F-DAC6-71D1-FC71347BEAF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4652829-3FB1-8F59-B333-19CE4C62838B}"/>
              </a:ext>
            </a:extLst>
          </p:cNvPr>
          <p:cNvSpPr>
            <a:spLocks noGrp="1"/>
          </p:cNvSpPr>
          <p:nvPr>
            <p:ph type="dt" sz="half" idx="10"/>
          </p:nvPr>
        </p:nvSpPr>
        <p:spPr/>
        <p:txBody>
          <a:bodyPr/>
          <a:lstStyle/>
          <a:p>
            <a:fld id="{5CB99A3A-7869-41F2-BAD1-8578154A79BE}" type="datetimeFigureOut">
              <a:rPr lang="zh-CN" altLang="en-US" smtClean="0"/>
              <a:t>2022/10/15</a:t>
            </a:fld>
            <a:endParaRPr lang="zh-CN" altLang="en-US"/>
          </a:p>
        </p:txBody>
      </p:sp>
      <p:sp>
        <p:nvSpPr>
          <p:cNvPr id="6" name="页脚占位符 5">
            <a:extLst>
              <a:ext uri="{FF2B5EF4-FFF2-40B4-BE49-F238E27FC236}">
                <a16:creationId xmlns:a16="http://schemas.microsoft.com/office/drawing/2014/main" id="{EEA18899-A969-3547-5A3F-2DCBF65CB33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1C7B156-57D9-44CC-0334-5DDD937DAF77}"/>
              </a:ext>
            </a:extLst>
          </p:cNvPr>
          <p:cNvSpPr>
            <a:spLocks noGrp="1"/>
          </p:cNvSpPr>
          <p:nvPr>
            <p:ph type="sldNum" sz="quarter" idx="12"/>
          </p:nvPr>
        </p:nvSpPr>
        <p:spPr/>
        <p:txBody>
          <a:bodyPr/>
          <a:lstStyle/>
          <a:p>
            <a:fld id="{65703A48-C316-4AA3-8E4E-4433376E065D}" type="slidenum">
              <a:rPr lang="zh-CN" altLang="en-US" smtClean="0"/>
              <a:t>‹#›</a:t>
            </a:fld>
            <a:endParaRPr lang="zh-CN" altLang="en-US"/>
          </a:p>
        </p:txBody>
      </p:sp>
    </p:spTree>
    <p:extLst>
      <p:ext uri="{BB962C8B-B14F-4D97-AF65-F5344CB8AC3E}">
        <p14:creationId xmlns:p14="http://schemas.microsoft.com/office/powerpoint/2010/main" val="3506617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E339C-DB2B-CB83-9A19-E83612C5AD3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8D14AFF-D1A8-E4E3-BEB4-BCE0870874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0132AC2-E4D7-E76A-3BD7-B9D0565376F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D3FB6D7-28CA-5174-9964-4CDCEF9665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4019361-B2C3-AA77-051C-B5EBCD72413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0B8DB99-DCE3-D412-7A29-8DECCD121B74}"/>
              </a:ext>
            </a:extLst>
          </p:cNvPr>
          <p:cNvSpPr>
            <a:spLocks noGrp="1"/>
          </p:cNvSpPr>
          <p:nvPr>
            <p:ph type="dt" sz="half" idx="10"/>
          </p:nvPr>
        </p:nvSpPr>
        <p:spPr/>
        <p:txBody>
          <a:bodyPr/>
          <a:lstStyle/>
          <a:p>
            <a:fld id="{5CB99A3A-7869-41F2-BAD1-8578154A79BE}" type="datetimeFigureOut">
              <a:rPr lang="zh-CN" altLang="en-US" smtClean="0"/>
              <a:t>2022/10/15</a:t>
            </a:fld>
            <a:endParaRPr lang="zh-CN" altLang="en-US"/>
          </a:p>
        </p:txBody>
      </p:sp>
      <p:sp>
        <p:nvSpPr>
          <p:cNvPr id="8" name="页脚占位符 7">
            <a:extLst>
              <a:ext uri="{FF2B5EF4-FFF2-40B4-BE49-F238E27FC236}">
                <a16:creationId xmlns:a16="http://schemas.microsoft.com/office/drawing/2014/main" id="{B9F816E6-CA08-0D47-AF2D-5BEBE31F2D1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2EF6BDC-7D10-71C1-E41A-17F1B284BDF6}"/>
              </a:ext>
            </a:extLst>
          </p:cNvPr>
          <p:cNvSpPr>
            <a:spLocks noGrp="1"/>
          </p:cNvSpPr>
          <p:nvPr>
            <p:ph type="sldNum" sz="quarter" idx="12"/>
          </p:nvPr>
        </p:nvSpPr>
        <p:spPr/>
        <p:txBody>
          <a:bodyPr/>
          <a:lstStyle/>
          <a:p>
            <a:fld id="{65703A48-C316-4AA3-8E4E-4433376E065D}" type="slidenum">
              <a:rPr lang="zh-CN" altLang="en-US" smtClean="0"/>
              <a:t>‹#›</a:t>
            </a:fld>
            <a:endParaRPr lang="zh-CN" altLang="en-US"/>
          </a:p>
        </p:txBody>
      </p:sp>
    </p:spTree>
    <p:extLst>
      <p:ext uri="{BB962C8B-B14F-4D97-AF65-F5344CB8AC3E}">
        <p14:creationId xmlns:p14="http://schemas.microsoft.com/office/powerpoint/2010/main" val="2990393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00C7EF-058B-0DCD-6310-88BD8CA584B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1E1C15B-E746-965E-B711-8466428BD831}"/>
              </a:ext>
            </a:extLst>
          </p:cNvPr>
          <p:cNvSpPr>
            <a:spLocks noGrp="1"/>
          </p:cNvSpPr>
          <p:nvPr>
            <p:ph type="dt" sz="half" idx="10"/>
          </p:nvPr>
        </p:nvSpPr>
        <p:spPr/>
        <p:txBody>
          <a:bodyPr/>
          <a:lstStyle/>
          <a:p>
            <a:fld id="{5CB99A3A-7869-41F2-BAD1-8578154A79BE}" type="datetimeFigureOut">
              <a:rPr lang="zh-CN" altLang="en-US" smtClean="0"/>
              <a:t>2022/10/15</a:t>
            </a:fld>
            <a:endParaRPr lang="zh-CN" altLang="en-US"/>
          </a:p>
        </p:txBody>
      </p:sp>
      <p:sp>
        <p:nvSpPr>
          <p:cNvPr id="4" name="页脚占位符 3">
            <a:extLst>
              <a:ext uri="{FF2B5EF4-FFF2-40B4-BE49-F238E27FC236}">
                <a16:creationId xmlns:a16="http://schemas.microsoft.com/office/drawing/2014/main" id="{1F1FFEA3-A0E6-6327-AFF2-62C94299451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7AAB52F-965E-AF4E-4D77-2197CF600725}"/>
              </a:ext>
            </a:extLst>
          </p:cNvPr>
          <p:cNvSpPr>
            <a:spLocks noGrp="1"/>
          </p:cNvSpPr>
          <p:nvPr>
            <p:ph type="sldNum" sz="quarter" idx="12"/>
          </p:nvPr>
        </p:nvSpPr>
        <p:spPr/>
        <p:txBody>
          <a:bodyPr/>
          <a:lstStyle/>
          <a:p>
            <a:fld id="{65703A48-C316-4AA3-8E4E-4433376E065D}" type="slidenum">
              <a:rPr lang="zh-CN" altLang="en-US" smtClean="0"/>
              <a:t>‹#›</a:t>
            </a:fld>
            <a:endParaRPr lang="zh-CN" altLang="en-US"/>
          </a:p>
        </p:txBody>
      </p:sp>
    </p:spTree>
    <p:extLst>
      <p:ext uri="{BB962C8B-B14F-4D97-AF65-F5344CB8AC3E}">
        <p14:creationId xmlns:p14="http://schemas.microsoft.com/office/powerpoint/2010/main" val="652727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734DEBC-1081-8C7C-9463-D92D038EC399}"/>
              </a:ext>
            </a:extLst>
          </p:cNvPr>
          <p:cNvSpPr>
            <a:spLocks noGrp="1"/>
          </p:cNvSpPr>
          <p:nvPr>
            <p:ph type="dt" sz="half" idx="10"/>
          </p:nvPr>
        </p:nvSpPr>
        <p:spPr/>
        <p:txBody>
          <a:bodyPr/>
          <a:lstStyle/>
          <a:p>
            <a:fld id="{5CB99A3A-7869-41F2-BAD1-8578154A79BE}" type="datetimeFigureOut">
              <a:rPr lang="zh-CN" altLang="en-US" smtClean="0"/>
              <a:t>2022/10/15</a:t>
            </a:fld>
            <a:endParaRPr lang="zh-CN" altLang="en-US"/>
          </a:p>
        </p:txBody>
      </p:sp>
      <p:sp>
        <p:nvSpPr>
          <p:cNvPr id="3" name="页脚占位符 2">
            <a:extLst>
              <a:ext uri="{FF2B5EF4-FFF2-40B4-BE49-F238E27FC236}">
                <a16:creationId xmlns:a16="http://schemas.microsoft.com/office/drawing/2014/main" id="{19BC94D0-F24E-B473-85F7-A5568386FBB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AA135C1-F763-7AEF-A533-BD434902AB65}"/>
              </a:ext>
            </a:extLst>
          </p:cNvPr>
          <p:cNvSpPr>
            <a:spLocks noGrp="1"/>
          </p:cNvSpPr>
          <p:nvPr>
            <p:ph type="sldNum" sz="quarter" idx="12"/>
          </p:nvPr>
        </p:nvSpPr>
        <p:spPr/>
        <p:txBody>
          <a:bodyPr/>
          <a:lstStyle/>
          <a:p>
            <a:fld id="{65703A48-C316-4AA3-8E4E-4433376E065D}" type="slidenum">
              <a:rPr lang="zh-CN" altLang="en-US" smtClean="0"/>
              <a:t>‹#›</a:t>
            </a:fld>
            <a:endParaRPr lang="zh-CN" altLang="en-US"/>
          </a:p>
        </p:txBody>
      </p:sp>
    </p:spTree>
    <p:extLst>
      <p:ext uri="{BB962C8B-B14F-4D97-AF65-F5344CB8AC3E}">
        <p14:creationId xmlns:p14="http://schemas.microsoft.com/office/powerpoint/2010/main" val="499164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297B98-B6A5-7109-E0E9-0E322A5D21A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AA5A014-1327-4FC9-0D26-3B7D28134C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35EC27F-238B-72B6-5D53-CC11FEF946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10A3B66-705A-658E-B975-FD0C9A9F26DE}"/>
              </a:ext>
            </a:extLst>
          </p:cNvPr>
          <p:cNvSpPr>
            <a:spLocks noGrp="1"/>
          </p:cNvSpPr>
          <p:nvPr>
            <p:ph type="dt" sz="half" idx="10"/>
          </p:nvPr>
        </p:nvSpPr>
        <p:spPr/>
        <p:txBody>
          <a:bodyPr/>
          <a:lstStyle/>
          <a:p>
            <a:fld id="{5CB99A3A-7869-41F2-BAD1-8578154A79BE}" type="datetimeFigureOut">
              <a:rPr lang="zh-CN" altLang="en-US" smtClean="0"/>
              <a:t>2022/10/15</a:t>
            </a:fld>
            <a:endParaRPr lang="zh-CN" altLang="en-US"/>
          </a:p>
        </p:txBody>
      </p:sp>
      <p:sp>
        <p:nvSpPr>
          <p:cNvPr id="6" name="页脚占位符 5">
            <a:extLst>
              <a:ext uri="{FF2B5EF4-FFF2-40B4-BE49-F238E27FC236}">
                <a16:creationId xmlns:a16="http://schemas.microsoft.com/office/drawing/2014/main" id="{46B100E7-8C52-C2BA-D50A-312D5719AD4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7ACAA77-6F8E-9ED4-EEAB-EF4DBB3FE69F}"/>
              </a:ext>
            </a:extLst>
          </p:cNvPr>
          <p:cNvSpPr>
            <a:spLocks noGrp="1"/>
          </p:cNvSpPr>
          <p:nvPr>
            <p:ph type="sldNum" sz="quarter" idx="12"/>
          </p:nvPr>
        </p:nvSpPr>
        <p:spPr/>
        <p:txBody>
          <a:bodyPr/>
          <a:lstStyle/>
          <a:p>
            <a:fld id="{65703A48-C316-4AA3-8E4E-4433376E065D}" type="slidenum">
              <a:rPr lang="zh-CN" altLang="en-US" smtClean="0"/>
              <a:t>‹#›</a:t>
            </a:fld>
            <a:endParaRPr lang="zh-CN" altLang="en-US"/>
          </a:p>
        </p:txBody>
      </p:sp>
    </p:spTree>
    <p:extLst>
      <p:ext uri="{BB962C8B-B14F-4D97-AF65-F5344CB8AC3E}">
        <p14:creationId xmlns:p14="http://schemas.microsoft.com/office/powerpoint/2010/main" val="928049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0E87C6-4D88-CDBC-1F16-FF4F9667696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457274C-0C90-CD57-D8DA-62A07DE09F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EA1D8FA-0A27-40C7-0A34-25EB935A2F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7164DD2-7C41-5AE2-CE29-7943BB45FA21}"/>
              </a:ext>
            </a:extLst>
          </p:cNvPr>
          <p:cNvSpPr>
            <a:spLocks noGrp="1"/>
          </p:cNvSpPr>
          <p:nvPr>
            <p:ph type="dt" sz="half" idx="10"/>
          </p:nvPr>
        </p:nvSpPr>
        <p:spPr/>
        <p:txBody>
          <a:bodyPr/>
          <a:lstStyle/>
          <a:p>
            <a:fld id="{5CB99A3A-7869-41F2-BAD1-8578154A79BE}" type="datetimeFigureOut">
              <a:rPr lang="zh-CN" altLang="en-US" smtClean="0"/>
              <a:t>2022/10/15</a:t>
            </a:fld>
            <a:endParaRPr lang="zh-CN" altLang="en-US"/>
          </a:p>
        </p:txBody>
      </p:sp>
      <p:sp>
        <p:nvSpPr>
          <p:cNvPr id="6" name="页脚占位符 5">
            <a:extLst>
              <a:ext uri="{FF2B5EF4-FFF2-40B4-BE49-F238E27FC236}">
                <a16:creationId xmlns:a16="http://schemas.microsoft.com/office/drawing/2014/main" id="{4B6AEC97-1915-DE3D-791B-522F34212A6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D31DA3B-685D-A260-0A14-94FE1E0535E1}"/>
              </a:ext>
            </a:extLst>
          </p:cNvPr>
          <p:cNvSpPr>
            <a:spLocks noGrp="1"/>
          </p:cNvSpPr>
          <p:nvPr>
            <p:ph type="sldNum" sz="quarter" idx="12"/>
          </p:nvPr>
        </p:nvSpPr>
        <p:spPr/>
        <p:txBody>
          <a:bodyPr/>
          <a:lstStyle/>
          <a:p>
            <a:fld id="{65703A48-C316-4AA3-8E4E-4433376E065D}" type="slidenum">
              <a:rPr lang="zh-CN" altLang="en-US" smtClean="0"/>
              <a:t>‹#›</a:t>
            </a:fld>
            <a:endParaRPr lang="zh-CN" altLang="en-US"/>
          </a:p>
        </p:txBody>
      </p:sp>
    </p:spTree>
    <p:extLst>
      <p:ext uri="{BB962C8B-B14F-4D97-AF65-F5344CB8AC3E}">
        <p14:creationId xmlns:p14="http://schemas.microsoft.com/office/powerpoint/2010/main" val="3083242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8A31C8-AC46-4191-D05B-4407B9C462E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C4DB1C0-5144-2285-83CF-5D2060E9B6A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1BD4E3A-B955-B83F-674E-6F13F690915A}"/>
              </a:ext>
            </a:extLst>
          </p:cNvPr>
          <p:cNvSpPr>
            <a:spLocks noGrp="1"/>
          </p:cNvSpPr>
          <p:nvPr>
            <p:ph type="dt" sz="half" idx="10"/>
          </p:nvPr>
        </p:nvSpPr>
        <p:spPr/>
        <p:txBody>
          <a:bodyPr/>
          <a:lstStyle/>
          <a:p>
            <a:fld id="{5CB99A3A-7869-41F2-BAD1-8578154A79BE}" type="datetimeFigureOut">
              <a:rPr lang="zh-CN" altLang="en-US" smtClean="0"/>
              <a:t>2022/10/15</a:t>
            </a:fld>
            <a:endParaRPr lang="zh-CN" altLang="en-US"/>
          </a:p>
        </p:txBody>
      </p:sp>
      <p:sp>
        <p:nvSpPr>
          <p:cNvPr id="5" name="页脚占位符 4">
            <a:extLst>
              <a:ext uri="{FF2B5EF4-FFF2-40B4-BE49-F238E27FC236}">
                <a16:creationId xmlns:a16="http://schemas.microsoft.com/office/drawing/2014/main" id="{AADBE13B-1587-4C74-73D0-91B7896D328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7535B4F-8291-78F6-59C7-B1047BDB63B9}"/>
              </a:ext>
            </a:extLst>
          </p:cNvPr>
          <p:cNvSpPr>
            <a:spLocks noGrp="1"/>
          </p:cNvSpPr>
          <p:nvPr>
            <p:ph type="sldNum" sz="quarter" idx="12"/>
          </p:nvPr>
        </p:nvSpPr>
        <p:spPr/>
        <p:txBody>
          <a:bodyPr/>
          <a:lstStyle/>
          <a:p>
            <a:fld id="{65703A48-C316-4AA3-8E4E-4433376E065D}" type="slidenum">
              <a:rPr lang="zh-CN" altLang="en-US" smtClean="0"/>
              <a:t>‹#›</a:t>
            </a:fld>
            <a:endParaRPr lang="zh-CN" altLang="en-US"/>
          </a:p>
        </p:txBody>
      </p:sp>
    </p:spTree>
    <p:extLst>
      <p:ext uri="{BB962C8B-B14F-4D97-AF65-F5344CB8AC3E}">
        <p14:creationId xmlns:p14="http://schemas.microsoft.com/office/powerpoint/2010/main" val="829913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B3DE539-874B-23B4-27E0-CB1A3260556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0FDF20C-4D77-88D8-23EA-DA5FEA448B3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EEE8B6C-AEA2-90C8-14EE-FC006F7E57BE}"/>
              </a:ext>
            </a:extLst>
          </p:cNvPr>
          <p:cNvSpPr>
            <a:spLocks noGrp="1"/>
          </p:cNvSpPr>
          <p:nvPr>
            <p:ph type="dt" sz="half" idx="10"/>
          </p:nvPr>
        </p:nvSpPr>
        <p:spPr/>
        <p:txBody>
          <a:bodyPr/>
          <a:lstStyle/>
          <a:p>
            <a:fld id="{5CB99A3A-7869-41F2-BAD1-8578154A79BE}" type="datetimeFigureOut">
              <a:rPr lang="zh-CN" altLang="en-US" smtClean="0"/>
              <a:t>2022/10/15</a:t>
            </a:fld>
            <a:endParaRPr lang="zh-CN" altLang="en-US"/>
          </a:p>
        </p:txBody>
      </p:sp>
      <p:sp>
        <p:nvSpPr>
          <p:cNvPr id="5" name="页脚占位符 4">
            <a:extLst>
              <a:ext uri="{FF2B5EF4-FFF2-40B4-BE49-F238E27FC236}">
                <a16:creationId xmlns:a16="http://schemas.microsoft.com/office/drawing/2014/main" id="{D7DCF6B6-F326-6C22-E8E5-508A472A4E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84CCA7F-F6C1-B5C6-3753-D9DE1EF24A02}"/>
              </a:ext>
            </a:extLst>
          </p:cNvPr>
          <p:cNvSpPr>
            <a:spLocks noGrp="1"/>
          </p:cNvSpPr>
          <p:nvPr>
            <p:ph type="sldNum" sz="quarter" idx="12"/>
          </p:nvPr>
        </p:nvSpPr>
        <p:spPr/>
        <p:txBody>
          <a:bodyPr/>
          <a:lstStyle/>
          <a:p>
            <a:fld id="{65703A48-C316-4AA3-8E4E-4433376E065D}" type="slidenum">
              <a:rPr lang="zh-CN" altLang="en-US" smtClean="0"/>
              <a:t>‹#›</a:t>
            </a:fld>
            <a:endParaRPr lang="zh-CN" altLang="en-US"/>
          </a:p>
        </p:txBody>
      </p:sp>
    </p:spTree>
    <p:extLst>
      <p:ext uri="{BB962C8B-B14F-4D97-AF65-F5344CB8AC3E}">
        <p14:creationId xmlns:p14="http://schemas.microsoft.com/office/powerpoint/2010/main" val="340284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p:txBody>
          <a:bodyPr/>
          <a:lstStyle/>
          <a:p>
            <a:fld id="{D60D1EDE-7116-2443-9BDD-368CE5B37660}" type="slidenum">
              <a:rPr lang="en-US" smtClean="0"/>
              <a:t>‹#›</a:t>
            </a:fld>
            <a:endParaRPr lang="en-US" dirty="0"/>
          </a:p>
        </p:txBody>
      </p:sp>
      <p:sp>
        <p:nvSpPr>
          <p:cNvPr id="7" name="日期占位符 3"/>
          <p:cNvSpPr>
            <a:spLocks noGrp="1"/>
          </p:cNvSpPr>
          <p:nvPr userDrawn="1"/>
        </p:nvSpPr>
        <p:spPr>
          <a:xfrm>
            <a:off x="2209801" y="6365240"/>
            <a:ext cx="7773247" cy="347133"/>
          </a:xfrm>
          <a:prstGeom prst="rect">
            <a:avLst/>
          </a:prstGeom>
        </p:spPr>
        <p:txBody>
          <a:bodyPr vert="horz" lIns="121920" tIns="60960" rIns="121920" bIns="60960" rtlCol="0" anchor="ctr"/>
          <a:lstStyle>
            <a:lvl1pPr algn="ctr">
              <a:defRPr sz="900">
                <a:solidFill>
                  <a:schemeClr val="tx1">
                    <a:tint val="75000"/>
                  </a:schemeClr>
                </a:solidFill>
                <a:latin typeface="微软雅黑" charset="0"/>
                <a:ea typeface="微软雅黑" charset="0"/>
                <a:cs typeface="微软雅黑" charset="0"/>
              </a:defRPr>
            </a:lvl1pPr>
          </a:lstStyle>
          <a:p>
            <a:r>
              <a:rPr lang="zh-CN" altLang="en-US" sz="1200" b="1" dirty="0" err="1">
                <a:sym typeface="+mn-ea"/>
              </a:rPr>
              <a:t>第六届中国开源年会 </a:t>
            </a:r>
            <a:r>
              <a:rPr lang="en-US" altLang="zh-CN" sz="1200" b="1" dirty="0" err="1">
                <a:sym typeface="+mn-ea"/>
              </a:rPr>
              <a:t>COSCon'</a:t>
            </a:r>
            <a:r>
              <a:rPr lang="en-US" altLang="zh-CN" sz="1200" b="1" dirty="0">
                <a:sym typeface="+mn-ea"/>
              </a:rPr>
              <a:t>21  </a:t>
            </a:r>
            <a:r>
              <a:rPr lang="zh-CN" altLang="en-US" sz="1200" b="1" dirty="0">
                <a:sym typeface="+mn-ea"/>
              </a:rPr>
              <a:t>开心开源 </a:t>
            </a:r>
            <a:r>
              <a:rPr lang="en-US" altLang="zh-CN" sz="1200" b="1" dirty="0">
                <a:sym typeface="+mn-ea"/>
              </a:rPr>
              <a:t>Happy Hacking</a:t>
            </a:r>
            <a:endParaRPr lang="zh-CN" altLang="en-US" sz="1200"/>
          </a:p>
        </p:txBody>
      </p:sp>
    </p:spTree>
    <p:extLst>
      <p:ext uri="{BB962C8B-B14F-4D97-AF65-F5344CB8AC3E}">
        <p14:creationId xmlns:p14="http://schemas.microsoft.com/office/powerpoint/2010/main" val="1940148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CA05E20-48D1-9279-33DD-E4A938BDEA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BC52366-D256-5B12-8380-A4C2B65B7B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9D29A21-FA0E-49E8-C721-3F7CD8FF36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B99A3A-7869-41F2-BAD1-8578154A79BE}" type="datetimeFigureOut">
              <a:rPr lang="zh-CN" altLang="en-US" smtClean="0"/>
              <a:t>2022/10/15</a:t>
            </a:fld>
            <a:endParaRPr lang="zh-CN" altLang="en-US"/>
          </a:p>
        </p:txBody>
      </p:sp>
      <p:sp>
        <p:nvSpPr>
          <p:cNvPr id="5" name="页脚占位符 4">
            <a:extLst>
              <a:ext uri="{FF2B5EF4-FFF2-40B4-BE49-F238E27FC236}">
                <a16:creationId xmlns:a16="http://schemas.microsoft.com/office/drawing/2014/main" id="{8AAF771A-086D-708B-752E-39580440D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9CCEDA0-9155-A7FA-55CF-EE5538D574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703A48-C316-4AA3-8E4E-4433376E065D}" type="slidenum">
              <a:rPr lang="zh-CN" altLang="en-US" smtClean="0"/>
              <a:t>‹#›</a:t>
            </a:fld>
            <a:endParaRPr lang="zh-CN" altLang="en-US"/>
          </a:p>
        </p:txBody>
      </p:sp>
    </p:spTree>
    <p:extLst>
      <p:ext uri="{BB962C8B-B14F-4D97-AF65-F5344CB8AC3E}">
        <p14:creationId xmlns:p14="http://schemas.microsoft.com/office/powerpoint/2010/main" val="3871150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2.png"/><Relationship Id="rId7" Type="http://schemas.openxmlformats.org/officeDocument/2006/relationships/image" Target="../media/image7.png"/><Relationship Id="rId12" Type="http://schemas.openxmlformats.org/officeDocument/2006/relationships/image" Target="../media/image10.sv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9.png"/><Relationship Id="rId5" Type="http://schemas.openxmlformats.org/officeDocument/2006/relationships/image" Target="../media/image13.png"/><Relationship Id="rId10" Type="http://schemas.openxmlformats.org/officeDocument/2006/relationships/image" Target="../media/image6.svg"/><Relationship Id="rId4" Type="http://schemas.openxmlformats.org/officeDocument/2006/relationships/image" Target="../media/image4.png"/><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1.jpe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github.com/CrowdDotDev/awesome-oss-investors" TargetMode="Externa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51436C98-DE9E-F3B2-84DB-44D2BF590E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3051283">
            <a:off x="-1526267" y="-2136181"/>
            <a:ext cx="10006265" cy="5128839"/>
          </a:xfrm>
          <a:prstGeom prst="rect">
            <a:avLst/>
          </a:prstGeom>
        </p:spPr>
      </p:pic>
      <p:pic>
        <p:nvPicPr>
          <p:cNvPr id="7" name="图片 6">
            <a:extLst>
              <a:ext uri="{FF2B5EF4-FFF2-40B4-BE49-F238E27FC236}">
                <a16:creationId xmlns:a16="http://schemas.microsoft.com/office/drawing/2014/main" id="{62696DD9-90EE-FF96-92DB-56BF5FF5AD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9009" y="1642087"/>
            <a:ext cx="4978443" cy="4715636"/>
          </a:xfrm>
          <a:prstGeom prst="rect">
            <a:avLst/>
          </a:prstGeom>
        </p:spPr>
      </p:pic>
      <p:sp>
        <p:nvSpPr>
          <p:cNvPr id="4" name="标题 3">
            <a:extLst>
              <a:ext uri="{FF2B5EF4-FFF2-40B4-BE49-F238E27FC236}">
                <a16:creationId xmlns:a16="http://schemas.microsoft.com/office/drawing/2014/main" id="{317E7594-6428-A806-69A7-65C441F14439}"/>
              </a:ext>
            </a:extLst>
          </p:cNvPr>
          <p:cNvSpPr>
            <a:spLocks noGrp="1"/>
          </p:cNvSpPr>
          <p:nvPr>
            <p:ph type="ctrTitle"/>
          </p:nvPr>
        </p:nvSpPr>
        <p:spPr>
          <a:xfrm>
            <a:off x="508511" y="1871965"/>
            <a:ext cx="9144000" cy="1975242"/>
          </a:xfrm>
        </p:spPr>
        <p:txBody>
          <a:bodyPr/>
          <a:lstStyle/>
          <a:p>
            <a:pPr algn="l"/>
            <a:r>
              <a:rPr lang="zh-CN" altLang="en-US" dirty="0">
                <a:solidFill>
                  <a:srgbClr val="0C5D60"/>
                </a:solidFill>
                <a:latin typeface="YouSheBiaoTiYuan" panose="00000500000000000000" pitchFamily="50" charset="-122"/>
                <a:ea typeface="YouSheBiaoTiYuan" panose="00000500000000000000" pitchFamily="50" charset="-122"/>
              </a:rPr>
              <a:t>国内开源文化观察</a:t>
            </a:r>
            <a:br>
              <a:rPr lang="en-US" altLang="zh-CN" dirty="0">
                <a:solidFill>
                  <a:srgbClr val="0C5D60"/>
                </a:solidFill>
                <a:latin typeface="YouSheBiaoTiYuan" panose="00000500000000000000" pitchFamily="50" charset="-122"/>
                <a:ea typeface="YouSheBiaoTiYuan" panose="00000500000000000000" pitchFamily="50" charset="-122"/>
              </a:rPr>
            </a:br>
            <a:r>
              <a:rPr lang="en-US" altLang="zh-CN" sz="4400" dirty="0">
                <a:solidFill>
                  <a:srgbClr val="0C5D60"/>
                </a:solidFill>
                <a:latin typeface="YouSheBiaoTiYuan" panose="00000500000000000000" pitchFamily="50" charset="-122"/>
                <a:ea typeface="YouSheBiaoTiYuan" panose="00000500000000000000" pitchFamily="50" charset="-122"/>
              </a:rPr>
              <a:t>—</a:t>
            </a:r>
            <a:r>
              <a:rPr lang="zh-CN" altLang="en-US" sz="4400" dirty="0">
                <a:solidFill>
                  <a:srgbClr val="0C5D60"/>
                </a:solidFill>
                <a:latin typeface="YouSheBiaoTiYuan" panose="00000500000000000000" pitchFamily="50" charset="-122"/>
                <a:ea typeface="YouSheBiaoTiYuan" panose="00000500000000000000" pitchFamily="50" charset="-122"/>
              </a:rPr>
              <a:t>现象、根因与出路</a:t>
            </a:r>
            <a:endParaRPr lang="zh-CN" altLang="en-US" dirty="0">
              <a:solidFill>
                <a:srgbClr val="0C5D60"/>
              </a:solidFill>
              <a:latin typeface="YouSheBiaoTiYuan" panose="00000500000000000000" pitchFamily="50" charset="-122"/>
              <a:ea typeface="YouSheBiaoTiYuan" panose="00000500000000000000" pitchFamily="50" charset="-122"/>
            </a:endParaRPr>
          </a:p>
        </p:txBody>
      </p:sp>
      <p:sp>
        <p:nvSpPr>
          <p:cNvPr id="11" name="文本框 10">
            <a:extLst>
              <a:ext uri="{FF2B5EF4-FFF2-40B4-BE49-F238E27FC236}">
                <a16:creationId xmlns:a16="http://schemas.microsoft.com/office/drawing/2014/main" id="{E2AF12AF-851D-B93D-7488-618C8F60025B}"/>
              </a:ext>
            </a:extLst>
          </p:cNvPr>
          <p:cNvSpPr txBox="1"/>
          <p:nvPr/>
        </p:nvSpPr>
        <p:spPr>
          <a:xfrm>
            <a:off x="609600" y="6080874"/>
            <a:ext cx="2913215" cy="276999"/>
          </a:xfrm>
          <a:prstGeom prst="rect">
            <a:avLst/>
          </a:prstGeom>
          <a:noFill/>
        </p:spPr>
        <p:txBody>
          <a:bodyPr wrap="square" rtlCol="0">
            <a:spAutoFit/>
          </a:bodyPr>
          <a:lstStyle/>
          <a:p>
            <a:r>
              <a:rPr lang="en-US" altLang="zh-CN" sz="1200" dirty="0">
                <a:solidFill>
                  <a:srgbClr val="0C5D60"/>
                </a:solidFill>
                <a:latin typeface="思源黑体 CN Bold" panose="020B0800000000000000" pitchFamily="34" charset="-122"/>
                <a:ea typeface="思源黑体 CN Bold" panose="020B0800000000000000" pitchFamily="34" charset="-122"/>
              </a:rPr>
              <a:t>2022 </a:t>
            </a:r>
            <a:r>
              <a:rPr lang="zh-CN" altLang="en-US" sz="1200" dirty="0">
                <a:solidFill>
                  <a:srgbClr val="0C5D60"/>
                </a:solidFill>
                <a:latin typeface="思源黑体 CN Bold" panose="020B0800000000000000" pitchFamily="34" charset="-122"/>
                <a:ea typeface="思源黑体 CN Bold" panose="020B0800000000000000" pitchFamily="34" charset="-122"/>
              </a:rPr>
              <a:t>第七届中国开源年会</a:t>
            </a:r>
          </a:p>
        </p:txBody>
      </p:sp>
      <p:sp>
        <p:nvSpPr>
          <p:cNvPr id="12" name="文本框 11">
            <a:extLst>
              <a:ext uri="{FF2B5EF4-FFF2-40B4-BE49-F238E27FC236}">
                <a16:creationId xmlns:a16="http://schemas.microsoft.com/office/drawing/2014/main" id="{E795FCFB-9B2A-9A10-69C4-FC9645F1E80D}"/>
              </a:ext>
            </a:extLst>
          </p:cNvPr>
          <p:cNvSpPr txBox="1"/>
          <p:nvPr/>
        </p:nvSpPr>
        <p:spPr>
          <a:xfrm>
            <a:off x="3476864" y="6080723"/>
            <a:ext cx="2913215" cy="276999"/>
          </a:xfrm>
          <a:prstGeom prst="rect">
            <a:avLst/>
          </a:prstGeom>
          <a:noFill/>
        </p:spPr>
        <p:txBody>
          <a:bodyPr wrap="square" rtlCol="0">
            <a:spAutoFit/>
          </a:bodyPr>
          <a:lstStyle/>
          <a:p>
            <a:r>
              <a:rPr lang="en-US" altLang="zh-CN" sz="1200" dirty="0">
                <a:solidFill>
                  <a:srgbClr val="0C5D60"/>
                </a:solidFill>
                <a:latin typeface="思源黑体 CN Bold" panose="020B0800000000000000" pitchFamily="34" charset="-122"/>
                <a:ea typeface="思源黑体 CN Bold" panose="020B0800000000000000" pitchFamily="34" charset="-122"/>
              </a:rPr>
              <a:t>OPEN THE WORLD</a:t>
            </a:r>
            <a:endParaRPr lang="zh-CN" altLang="en-US" sz="1200" dirty="0">
              <a:solidFill>
                <a:srgbClr val="0C5D60"/>
              </a:solidFill>
              <a:latin typeface="思源黑体 CN Bold" panose="020B0800000000000000" pitchFamily="34" charset="-122"/>
              <a:ea typeface="思源黑体 CN Bold" panose="020B0800000000000000" pitchFamily="34" charset="-122"/>
            </a:endParaRPr>
          </a:p>
        </p:txBody>
      </p:sp>
      <p:sp>
        <p:nvSpPr>
          <p:cNvPr id="14" name="副标题 13">
            <a:extLst>
              <a:ext uri="{FF2B5EF4-FFF2-40B4-BE49-F238E27FC236}">
                <a16:creationId xmlns:a16="http://schemas.microsoft.com/office/drawing/2014/main" id="{611117AA-07CB-AC5E-2D7E-635DC5FDCCEE}"/>
              </a:ext>
            </a:extLst>
          </p:cNvPr>
          <p:cNvSpPr>
            <a:spLocks noGrp="1"/>
          </p:cNvSpPr>
          <p:nvPr>
            <p:ph type="subTitle" idx="1"/>
          </p:nvPr>
        </p:nvSpPr>
        <p:spPr>
          <a:xfrm>
            <a:off x="609600" y="4159838"/>
            <a:ext cx="6416117" cy="482895"/>
          </a:xfrm>
        </p:spPr>
        <p:txBody>
          <a:bodyPr/>
          <a:lstStyle/>
          <a:p>
            <a:pPr algn="l"/>
            <a:r>
              <a:rPr lang="zh-CN" altLang="en-US" dirty="0">
                <a:solidFill>
                  <a:srgbClr val="0C5D60"/>
                </a:solidFill>
                <a:latin typeface="思源黑体 CN Bold" panose="020B0800000000000000" pitchFamily="34" charset="-122"/>
                <a:ea typeface="思源黑体 CN Bold" panose="020B0800000000000000" pitchFamily="34" charset="-122"/>
              </a:rPr>
              <a:t>庄表伟</a:t>
            </a:r>
            <a:r>
              <a:rPr lang="en-US" altLang="zh-CN" dirty="0">
                <a:solidFill>
                  <a:srgbClr val="0C5D60"/>
                </a:solidFill>
                <a:latin typeface="思源黑体 CN Bold" panose="020B0800000000000000" pitchFamily="34" charset="-122"/>
                <a:ea typeface="思源黑体 CN Bold" panose="020B0800000000000000" pitchFamily="34" charset="-122"/>
              </a:rPr>
              <a:t>@</a:t>
            </a:r>
            <a:r>
              <a:rPr lang="zh-CN" altLang="en-US" dirty="0">
                <a:solidFill>
                  <a:srgbClr val="0C5D60"/>
                </a:solidFill>
                <a:latin typeface="思源黑体 CN Bold" panose="020B0800000000000000" pitchFamily="34" charset="-122"/>
                <a:ea typeface="思源黑体 CN Bold" panose="020B0800000000000000" pitchFamily="34" charset="-122"/>
              </a:rPr>
              <a:t>开源社</a:t>
            </a:r>
          </a:p>
        </p:txBody>
      </p:sp>
      <p:pic>
        <p:nvPicPr>
          <p:cNvPr id="13" name="图片 12">
            <a:extLst>
              <a:ext uri="{FF2B5EF4-FFF2-40B4-BE49-F238E27FC236}">
                <a16:creationId xmlns:a16="http://schemas.microsoft.com/office/drawing/2014/main" id="{67A55839-4A8F-7B69-0438-5C28A7B774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pic>
        <p:nvPicPr>
          <p:cNvPr id="9" name="图形 8">
            <a:extLst>
              <a:ext uri="{FF2B5EF4-FFF2-40B4-BE49-F238E27FC236}">
                <a16:creationId xmlns:a16="http://schemas.microsoft.com/office/drawing/2014/main" id="{591F1937-F8E7-2C94-46AA-D6469C987A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796256">
            <a:off x="11506434" y="5770165"/>
            <a:ext cx="265133" cy="251178"/>
          </a:xfrm>
          <a:prstGeom prst="rect">
            <a:avLst/>
          </a:prstGeom>
        </p:spPr>
      </p:pic>
      <p:pic>
        <p:nvPicPr>
          <p:cNvPr id="10" name="图形 9">
            <a:extLst>
              <a:ext uri="{FF2B5EF4-FFF2-40B4-BE49-F238E27FC236}">
                <a16:creationId xmlns:a16="http://schemas.microsoft.com/office/drawing/2014/main" id="{113B0A3E-29E3-5B47-DFE9-EE033C086F3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488484">
            <a:off x="10479233" y="1963813"/>
            <a:ext cx="152479" cy="144453"/>
          </a:xfrm>
          <a:prstGeom prst="rect">
            <a:avLst/>
          </a:prstGeom>
        </p:spPr>
      </p:pic>
      <p:pic>
        <p:nvPicPr>
          <p:cNvPr id="15" name="图形 14">
            <a:extLst>
              <a:ext uri="{FF2B5EF4-FFF2-40B4-BE49-F238E27FC236}">
                <a16:creationId xmlns:a16="http://schemas.microsoft.com/office/drawing/2014/main" id="{476AFFCC-6B99-8AD0-6F74-5C3276D898A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8722003">
            <a:off x="6282538" y="4685733"/>
            <a:ext cx="320890" cy="304000"/>
          </a:xfrm>
          <a:prstGeom prst="rect">
            <a:avLst/>
          </a:prstGeom>
        </p:spPr>
      </p:pic>
    </p:spTree>
    <p:extLst>
      <p:ext uri="{BB962C8B-B14F-4D97-AF65-F5344CB8AC3E}">
        <p14:creationId xmlns:p14="http://schemas.microsoft.com/office/powerpoint/2010/main" val="3517903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anim calcmode="lin" valueType="num">
                                      <p:cBhvr>
                                        <p:cTn id="8" dur="250" fill="hold"/>
                                        <p:tgtEl>
                                          <p:spTgt spid="6"/>
                                        </p:tgtEl>
                                        <p:attrNameLst>
                                          <p:attrName>ppt_x</p:attrName>
                                        </p:attrNameLst>
                                      </p:cBhvr>
                                      <p:tavLst>
                                        <p:tav tm="0">
                                          <p:val>
                                            <p:strVal val="#ppt_x"/>
                                          </p:val>
                                        </p:tav>
                                        <p:tav tm="100000">
                                          <p:val>
                                            <p:strVal val="#ppt_x"/>
                                          </p:val>
                                        </p:tav>
                                      </p:tavLst>
                                    </p:anim>
                                    <p:anim calcmode="lin" valueType="num">
                                      <p:cBhvr>
                                        <p:cTn id="9" dur="25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randombar(horizontal)">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19"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16B7E3F7-2876-B215-EEF4-8611122185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0662" y="-2244102"/>
            <a:ext cx="8097445" cy="8107095"/>
          </a:xfrm>
          <a:prstGeom prst="rect">
            <a:avLst/>
          </a:prstGeom>
        </p:spPr>
      </p:pic>
      <p:sp>
        <p:nvSpPr>
          <p:cNvPr id="11" name="文本框 10">
            <a:extLst>
              <a:ext uri="{FF2B5EF4-FFF2-40B4-BE49-F238E27FC236}">
                <a16:creationId xmlns:a16="http://schemas.microsoft.com/office/drawing/2014/main" id="{01C8E6E8-D197-4A50-3224-954DDF29761D}"/>
              </a:ext>
            </a:extLst>
          </p:cNvPr>
          <p:cNvSpPr txBox="1"/>
          <p:nvPr/>
        </p:nvSpPr>
        <p:spPr>
          <a:xfrm>
            <a:off x="3736062" y="6219374"/>
            <a:ext cx="2514600" cy="276999"/>
          </a:xfrm>
          <a:prstGeom prst="rect">
            <a:avLst/>
          </a:prstGeom>
          <a:noFill/>
        </p:spPr>
        <p:txBody>
          <a:bodyPr wrap="square" rtlCol="0">
            <a:spAutoFit/>
          </a:bodyPr>
          <a:lstStyle/>
          <a:p>
            <a:pPr algn="ctr"/>
            <a:r>
              <a:rPr lang="en-US" altLang="zh-CN" sz="1200" dirty="0">
                <a:solidFill>
                  <a:srgbClr val="00A99D"/>
                </a:solidFill>
                <a:latin typeface="思源黑体 CN Bold" panose="020B0800000000000000" pitchFamily="34" charset="-122"/>
                <a:ea typeface="思源黑体 CN Bold" panose="020B0800000000000000" pitchFamily="34" charset="-122"/>
              </a:rPr>
              <a:t>2022 </a:t>
            </a:r>
            <a:r>
              <a:rPr lang="zh-CN" altLang="en-US" sz="1200" dirty="0">
                <a:solidFill>
                  <a:srgbClr val="00A99D"/>
                </a:solidFill>
                <a:latin typeface="思源黑体 CN Bold" panose="020B0800000000000000" pitchFamily="34" charset="-122"/>
                <a:ea typeface="思源黑体 CN Bold" panose="020B0800000000000000" pitchFamily="34" charset="-122"/>
              </a:rPr>
              <a:t>第七届中国开源年会</a:t>
            </a:r>
          </a:p>
        </p:txBody>
      </p:sp>
      <p:sp>
        <p:nvSpPr>
          <p:cNvPr id="12" name="文本框 11">
            <a:extLst>
              <a:ext uri="{FF2B5EF4-FFF2-40B4-BE49-F238E27FC236}">
                <a16:creationId xmlns:a16="http://schemas.microsoft.com/office/drawing/2014/main" id="{9B4037D3-53F2-6370-D6FF-61FB778F03F6}"/>
              </a:ext>
            </a:extLst>
          </p:cNvPr>
          <p:cNvSpPr txBox="1"/>
          <p:nvPr/>
        </p:nvSpPr>
        <p:spPr>
          <a:xfrm>
            <a:off x="6096000" y="6210662"/>
            <a:ext cx="2205275" cy="276999"/>
          </a:xfrm>
          <a:prstGeom prst="rect">
            <a:avLst/>
          </a:prstGeom>
          <a:noFill/>
        </p:spPr>
        <p:txBody>
          <a:bodyPr wrap="square" rtlCol="0">
            <a:spAutoFit/>
          </a:bodyPr>
          <a:lstStyle/>
          <a:p>
            <a:pPr algn="ctr"/>
            <a:r>
              <a:rPr lang="en-US" altLang="zh-CN" sz="1200" dirty="0">
                <a:solidFill>
                  <a:srgbClr val="00A99D"/>
                </a:solidFill>
                <a:latin typeface="思源黑体 CN Bold" panose="020B0800000000000000" pitchFamily="34" charset="-122"/>
                <a:ea typeface="思源黑体 CN Bold" panose="020B0800000000000000" pitchFamily="34" charset="-122"/>
              </a:rPr>
              <a:t>OPEN THE WORLD</a:t>
            </a:r>
            <a:endParaRPr lang="zh-CN" altLang="en-US" sz="1200" dirty="0">
              <a:solidFill>
                <a:srgbClr val="00A99D"/>
              </a:solidFill>
              <a:latin typeface="思源黑体 CN Bold" panose="020B0800000000000000" pitchFamily="34" charset="-122"/>
              <a:ea typeface="思源黑体 CN Bold" panose="020B0800000000000000" pitchFamily="34" charset="-122"/>
            </a:endParaRPr>
          </a:p>
        </p:txBody>
      </p:sp>
      <p:sp>
        <p:nvSpPr>
          <p:cNvPr id="16" name="标题 3">
            <a:extLst>
              <a:ext uri="{FF2B5EF4-FFF2-40B4-BE49-F238E27FC236}">
                <a16:creationId xmlns:a16="http://schemas.microsoft.com/office/drawing/2014/main" id="{16D839C6-2A02-1BE1-6B88-9D2C3032A5C0}"/>
              </a:ext>
            </a:extLst>
          </p:cNvPr>
          <p:cNvSpPr txBox="1">
            <a:spLocks/>
          </p:cNvSpPr>
          <p:nvPr/>
        </p:nvSpPr>
        <p:spPr>
          <a:xfrm>
            <a:off x="979997" y="419101"/>
            <a:ext cx="1967989" cy="9801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800" i="1" dirty="0">
                <a:solidFill>
                  <a:srgbClr val="0C5D60"/>
                </a:solidFill>
                <a:latin typeface="YouSheBiaoTiYuan" panose="00000500000000000000" pitchFamily="50" charset="-122"/>
                <a:ea typeface="YouSheBiaoTiYuan" panose="00000500000000000000" pitchFamily="50" charset="-122"/>
              </a:rPr>
              <a:t>目录</a:t>
            </a:r>
          </a:p>
        </p:txBody>
      </p:sp>
      <p:sp>
        <p:nvSpPr>
          <p:cNvPr id="17" name="标题 3">
            <a:extLst>
              <a:ext uri="{FF2B5EF4-FFF2-40B4-BE49-F238E27FC236}">
                <a16:creationId xmlns:a16="http://schemas.microsoft.com/office/drawing/2014/main" id="{B77099D0-8BBB-0438-B115-A2F4525D2946}"/>
              </a:ext>
            </a:extLst>
          </p:cNvPr>
          <p:cNvSpPr txBox="1">
            <a:spLocks/>
          </p:cNvSpPr>
          <p:nvPr/>
        </p:nvSpPr>
        <p:spPr>
          <a:xfrm>
            <a:off x="979996" y="766764"/>
            <a:ext cx="2972879" cy="9801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1500" i="1" dirty="0">
                <a:solidFill>
                  <a:srgbClr val="0C5D60"/>
                </a:solidFill>
                <a:latin typeface="YouSheBiaoTiYuan" panose="00000500000000000000" pitchFamily="50" charset="-122"/>
                <a:ea typeface="YouSheBiaoTiYuan" panose="00000500000000000000" pitchFamily="50" charset="-122"/>
              </a:rPr>
              <a:t>CONTENTS</a:t>
            </a:r>
            <a:endParaRPr lang="zh-CN" altLang="en-US" sz="1500" i="1" dirty="0">
              <a:solidFill>
                <a:srgbClr val="0C5D60"/>
              </a:solidFill>
              <a:latin typeface="YouSheBiaoTiYuan" panose="00000500000000000000" pitchFamily="50" charset="-122"/>
              <a:ea typeface="YouSheBiaoTiYuan" panose="00000500000000000000" pitchFamily="50" charset="-122"/>
            </a:endParaRPr>
          </a:p>
        </p:txBody>
      </p:sp>
      <p:sp>
        <p:nvSpPr>
          <p:cNvPr id="55" name="椭圆 54">
            <a:extLst>
              <a:ext uri="{FF2B5EF4-FFF2-40B4-BE49-F238E27FC236}">
                <a16:creationId xmlns:a16="http://schemas.microsoft.com/office/drawing/2014/main" id="{206B65A4-1C79-A5E6-FAE2-754862F8DD03}"/>
              </a:ext>
            </a:extLst>
          </p:cNvPr>
          <p:cNvSpPr/>
          <p:nvPr/>
        </p:nvSpPr>
        <p:spPr>
          <a:xfrm>
            <a:off x="984759" y="2108003"/>
            <a:ext cx="563054" cy="563054"/>
          </a:xfrm>
          <a:prstGeom prst="ellipse">
            <a:avLst/>
          </a:prstGeom>
          <a:solidFill>
            <a:srgbClr val="0C5D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副标题 13">
            <a:extLst>
              <a:ext uri="{FF2B5EF4-FFF2-40B4-BE49-F238E27FC236}">
                <a16:creationId xmlns:a16="http://schemas.microsoft.com/office/drawing/2014/main" id="{DE8F5820-91B3-7B72-47AA-D154B27889E3}"/>
              </a:ext>
            </a:extLst>
          </p:cNvPr>
          <p:cNvSpPr txBox="1">
            <a:spLocks/>
          </p:cNvSpPr>
          <p:nvPr/>
        </p:nvSpPr>
        <p:spPr>
          <a:xfrm>
            <a:off x="979997" y="2201746"/>
            <a:ext cx="579360" cy="4107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400" dirty="0">
                <a:solidFill>
                  <a:srgbClr val="E9FFD6"/>
                </a:solidFill>
                <a:latin typeface="思源黑体 CN Bold" panose="020B0800000000000000" pitchFamily="34" charset="-122"/>
                <a:ea typeface="思源黑体 CN Bold" panose="020B0800000000000000" pitchFamily="34" charset="-122"/>
              </a:rPr>
              <a:t>01</a:t>
            </a:r>
            <a:endParaRPr lang="zh-CN" altLang="en-US" sz="2400" dirty="0">
              <a:solidFill>
                <a:srgbClr val="E9FFD6"/>
              </a:solidFill>
              <a:latin typeface="思源黑体 CN Bold" panose="020B0800000000000000" pitchFamily="34" charset="-122"/>
              <a:ea typeface="思源黑体 CN Bold" panose="020B0800000000000000" pitchFamily="34" charset="-122"/>
            </a:endParaRPr>
          </a:p>
        </p:txBody>
      </p:sp>
      <p:pic>
        <p:nvPicPr>
          <p:cNvPr id="43" name="图片 42">
            <a:extLst>
              <a:ext uri="{FF2B5EF4-FFF2-40B4-BE49-F238E27FC236}">
                <a16:creationId xmlns:a16="http://schemas.microsoft.com/office/drawing/2014/main" id="{A78214D5-3E97-1678-C5C5-67A611996B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20752" y="1204466"/>
            <a:ext cx="6167025" cy="5989055"/>
          </a:xfrm>
          <a:prstGeom prst="rect">
            <a:avLst/>
          </a:prstGeom>
        </p:spPr>
      </p:pic>
      <p:sp>
        <p:nvSpPr>
          <p:cNvPr id="45" name="副标题 13">
            <a:extLst>
              <a:ext uri="{FF2B5EF4-FFF2-40B4-BE49-F238E27FC236}">
                <a16:creationId xmlns:a16="http://schemas.microsoft.com/office/drawing/2014/main" id="{10E7B6DB-721A-6B9F-7597-CB14E6B79276}"/>
              </a:ext>
            </a:extLst>
          </p:cNvPr>
          <p:cNvSpPr txBox="1">
            <a:spLocks/>
          </p:cNvSpPr>
          <p:nvPr/>
        </p:nvSpPr>
        <p:spPr>
          <a:xfrm>
            <a:off x="1850121" y="2188162"/>
            <a:ext cx="2000415" cy="482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solidFill>
                  <a:srgbClr val="0C5D60"/>
                </a:solidFill>
                <a:latin typeface="思源黑体 CN Bold" panose="020B0800000000000000" pitchFamily="34" charset="-122"/>
                <a:ea typeface="思源黑体 CN Bold" panose="020B0800000000000000" pitchFamily="34" charset="-122"/>
              </a:rPr>
              <a:t>什么是文化</a:t>
            </a:r>
          </a:p>
        </p:txBody>
      </p:sp>
      <p:pic>
        <p:nvPicPr>
          <p:cNvPr id="54" name="图片 53">
            <a:extLst>
              <a:ext uri="{FF2B5EF4-FFF2-40B4-BE49-F238E27FC236}">
                <a16:creationId xmlns:a16="http://schemas.microsoft.com/office/drawing/2014/main" id="{A6889937-6077-DD97-200F-D692E7E214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
        <p:nvSpPr>
          <p:cNvPr id="62" name="椭圆 61">
            <a:extLst>
              <a:ext uri="{FF2B5EF4-FFF2-40B4-BE49-F238E27FC236}">
                <a16:creationId xmlns:a16="http://schemas.microsoft.com/office/drawing/2014/main" id="{5478CDA3-5318-577B-36F6-8DC045E7FF91}"/>
              </a:ext>
            </a:extLst>
          </p:cNvPr>
          <p:cNvSpPr/>
          <p:nvPr/>
        </p:nvSpPr>
        <p:spPr>
          <a:xfrm>
            <a:off x="984759" y="2952733"/>
            <a:ext cx="563054" cy="563054"/>
          </a:xfrm>
          <a:prstGeom prst="ellipse">
            <a:avLst/>
          </a:prstGeom>
          <a:solidFill>
            <a:srgbClr val="0C5D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 name="副标题 13">
            <a:extLst>
              <a:ext uri="{FF2B5EF4-FFF2-40B4-BE49-F238E27FC236}">
                <a16:creationId xmlns:a16="http://schemas.microsoft.com/office/drawing/2014/main" id="{6DC6348A-C7D2-6D4A-6D8C-5494E1EE2BE2}"/>
              </a:ext>
            </a:extLst>
          </p:cNvPr>
          <p:cNvSpPr txBox="1">
            <a:spLocks/>
          </p:cNvSpPr>
          <p:nvPr/>
        </p:nvSpPr>
        <p:spPr>
          <a:xfrm>
            <a:off x="979997" y="3046476"/>
            <a:ext cx="579360" cy="4107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400" dirty="0">
                <a:solidFill>
                  <a:srgbClr val="E9FFD6"/>
                </a:solidFill>
                <a:latin typeface="思源黑体 CN Bold" panose="020B0800000000000000" pitchFamily="34" charset="-122"/>
                <a:ea typeface="思源黑体 CN Bold" panose="020B0800000000000000" pitchFamily="34" charset="-122"/>
              </a:rPr>
              <a:t>02</a:t>
            </a:r>
            <a:endParaRPr lang="zh-CN" altLang="en-US" sz="2400" dirty="0">
              <a:solidFill>
                <a:srgbClr val="E9FFD6"/>
              </a:solidFill>
              <a:latin typeface="思源黑体 CN Bold" panose="020B0800000000000000" pitchFamily="34" charset="-122"/>
              <a:ea typeface="思源黑体 CN Bold" panose="020B0800000000000000" pitchFamily="34" charset="-122"/>
            </a:endParaRPr>
          </a:p>
        </p:txBody>
      </p:sp>
      <p:sp>
        <p:nvSpPr>
          <p:cNvPr id="64" name="副标题 13">
            <a:extLst>
              <a:ext uri="{FF2B5EF4-FFF2-40B4-BE49-F238E27FC236}">
                <a16:creationId xmlns:a16="http://schemas.microsoft.com/office/drawing/2014/main" id="{F05A7166-6388-F210-59A8-190D41B120BA}"/>
              </a:ext>
            </a:extLst>
          </p:cNvPr>
          <p:cNvSpPr txBox="1">
            <a:spLocks/>
          </p:cNvSpPr>
          <p:nvPr/>
        </p:nvSpPr>
        <p:spPr>
          <a:xfrm>
            <a:off x="1850121" y="3032892"/>
            <a:ext cx="2000415" cy="482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solidFill>
                  <a:srgbClr val="0C5D60"/>
                </a:solidFill>
                <a:latin typeface="思源黑体 CN Bold" panose="020B0800000000000000" pitchFamily="34" charset="-122"/>
                <a:ea typeface="思源黑体 CN Bold" panose="020B0800000000000000" pitchFamily="34" charset="-122"/>
              </a:rPr>
              <a:t>黑客文化</a:t>
            </a:r>
          </a:p>
        </p:txBody>
      </p:sp>
      <p:sp>
        <p:nvSpPr>
          <p:cNvPr id="65" name="椭圆 64">
            <a:extLst>
              <a:ext uri="{FF2B5EF4-FFF2-40B4-BE49-F238E27FC236}">
                <a16:creationId xmlns:a16="http://schemas.microsoft.com/office/drawing/2014/main" id="{658FE274-3314-BFCE-A478-D3E6EB4EE57D}"/>
              </a:ext>
            </a:extLst>
          </p:cNvPr>
          <p:cNvSpPr/>
          <p:nvPr/>
        </p:nvSpPr>
        <p:spPr>
          <a:xfrm>
            <a:off x="984759" y="3819078"/>
            <a:ext cx="563054" cy="563054"/>
          </a:xfrm>
          <a:prstGeom prst="ellipse">
            <a:avLst/>
          </a:prstGeom>
          <a:solidFill>
            <a:srgbClr val="0C5D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副标题 13">
            <a:extLst>
              <a:ext uri="{FF2B5EF4-FFF2-40B4-BE49-F238E27FC236}">
                <a16:creationId xmlns:a16="http://schemas.microsoft.com/office/drawing/2014/main" id="{1BC571FA-BAC9-F074-4944-48C6748F02FB}"/>
              </a:ext>
            </a:extLst>
          </p:cNvPr>
          <p:cNvSpPr txBox="1">
            <a:spLocks/>
          </p:cNvSpPr>
          <p:nvPr/>
        </p:nvSpPr>
        <p:spPr>
          <a:xfrm>
            <a:off x="979997" y="3912821"/>
            <a:ext cx="579360" cy="4107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400" dirty="0">
                <a:solidFill>
                  <a:srgbClr val="E9FFD6"/>
                </a:solidFill>
                <a:latin typeface="思源黑体 CN Bold" panose="020B0800000000000000" pitchFamily="34" charset="-122"/>
                <a:ea typeface="思源黑体 CN Bold" panose="020B0800000000000000" pitchFamily="34" charset="-122"/>
              </a:rPr>
              <a:t>03</a:t>
            </a:r>
            <a:endParaRPr lang="zh-CN" altLang="en-US" sz="2400" dirty="0">
              <a:solidFill>
                <a:srgbClr val="E9FFD6"/>
              </a:solidFill>
              <a:latin typeface="思源黑体 CN Bold" panose="020B0800000000000000" pitchFamily="34" charset="-122"/>
              <a:ea typeface="思源黑体 CN Bold" panose="020B0800000000000000" pitchFamily="34" charset="-122"/>
            </a:endParaRPr>
          </a:p>
        </p:txBody>
      </p:sp>
      <p:sp>
        <p:nvSpPr>
          <p:cNvPr id="67" name="副标题 13">
            <a:extLst>
              <a:ext uri="{FF2B5EF4-FFF2-40B4-BE49-F238E27FC236}">
                <a16:creationId xmlns:a16="http://schemas.microsoft.com/office/drawing/2014/main" id="{735120BD-0463-7F31-FA71-E825CF5D589D}"/>
              </a:ext>
            </a:extLst>
          </p:cNvPr>
          <p:cNvSpPr txBox="1">
            <a:spLocks/>
          </p:cNvSpPr>
          <p:nvPr/>
        </p:nvSpPr>
        <p:spPr>
          <a:xfrm>
            <a:off x="1850121" y="3899237"/>
            <a:ext cx="2000415" cy="482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solidFill>
                  <a:srgbClr val="0C5D60"/>
                </a:solidFill>
                <a:latin typeface="思源黑体 CN Bold" panose="020B0800000000000000" pitchFamily="34" charset="-122"/>
                <a:ea typeface="思源黑体 CN Bold" panose="020B0800000000000000" pitchFamily="34" charset="-122"/>
              </a:rPr>
              <a:t>商业文化</a:t>
            </a:r>
          </a:p>
        </p:txBody>
      </p:sp>
      <p:sp>
        <p:nvSpPr>
          <p:cNvPr id="68" name="椭圆 67">
            <a:extLst>
              <a:ext uri="{FF2B5EF4-FFF2-40B4-BE49-F238E27FC236}">
                <a16:creationId xmlns:a16="http://schemas.microsoft.com/office/drawing/2014/main" id="{105155F0-585A-7955-9D86-2DAC882FEF0A}"/>
              </a:ext>
            </a:extLst>
          </p:cNvPr>
          <p:cNvSpPr/>
          <p:nvPr/>
        </p:nvSpPr>
        <p:spPr>
          <a:xfrm>
            <a:off x="984759" y="4663808"/>
            <a:ext cx="563054" cy="563054"/>
          </a:xfrm>
          <a:prstGeom prst="ellipse">
            <a:avLst/>
          </a:prstGeom>
          <a:solidFill>
            <a:srgbClr val="0C5D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副标题 13">
            <a:extLst>
              <a:ext uri="{FF2B5EF4-FFF2-40B4-BE49-F238E27FC236}">
                <a16:creationId xmlns:a16="http://schemas.microsoft.com/office/drawing/2014/main" id="{7D5A6379-1704-358F-5252-506C88210166}"/>
              </a:ext>
            </a:extLst>
          </p:cNvPr>
          <p:cNvSpPr txBox="1">
            <a:spLocks/>
          </p:cNvSpPr>
          <p:nvPr/>
        </p:nvSpPr>
        <p:spPr>
          <a:xfrm>
            <a:off x="979997" y="4757551"/>
            <a:ext cx="579360" cy="4107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400" dirty="0">
                <a:solidFill>
                  <a:srgbClr val="E9FFD6"/>
                </a:solidFill>
                <a:latin typeface="思源黑体 CN Bold" panose="020B0800000000000000" pitchFamily="34" charset="-122"/>
                <a:ea typeface="思源黑体 CN Bold" panose="020B0800000000000000" pitchFamily="34" charset="-122"/>
              </a:rPr>
              <a:t>04</a:t>
            </a:r>
            <a:endParaRPr lang="zh-CN" altLang="en-US" sz="2400" dirty="0">
              <a:solidFill>
                <a:srgbClr val="E9FFD6"/>
              </a:solidFill>
              <a:latin typeface="思源黑体 CN Bold" panose="020B0800000000000000" pitchFamily="34" charset="-122"/>
              <a:ea typeface="思源黑体 CN Bold" panose="020B0800000000000000" pitchFamily="34" charset="-122"/>
            </a:endParaRPr>
          </a:p>
        </p:txBody>
      </p:sp>
      <p:sp>
        <p:nvSpPr>
          <p:cNvPr id="70" name="副标题 13">
            <a:extLst>
              <a:ext uri="{FF2B5EF4-FFF2-40B4-BE49-F238E27FC236}">
                <a16:creationId xmlns:a16="http://schemas.microsoft.com/office/drawing/2014/main" id="{85E51389-C643-5621-E500-A01BF68560A0}"/>
              </a:ext>
            </a:extLst>
          </p:cNvPr>
          <p:cNvSpPr txBox="1">
            <a:spLocks/>
          </p:cNvSpPr>
          <p:nvPr/>
        </p:nvSpPr>
        <p:spPr>
          <a:xfrm>
            <a:off x="1850121" y="4743967"/>
            <a:ext cx="2000415" cy="482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solidFill>
                  <a:srgbClr val="0C5D60"/>
                </a:solidFill>
                <a:latin typeface="思源黑体 CN Bold" panose="020B0800000000000000" pitchFamily="34" charset="-122"/>
                <a:ea typeface="思源黑体 CN Bold" panose="020B0800000000000000" pitchFamily="34" charset="-122"/>
              </a:rPr>
              <a:t>互联网文化</a:t>
            </a:r>
            <a:endParaRPr lang="en-US" altLang="zh-CN" dirty="0">
              <a:solidFill>
                <a:srgbClr val="0C5D60"/>
              </a:solidFill>
              <a:latin typeface="思源黑体 CN Bold" panose="020B0800000000000000" pitchFamily="34" charset="-122"/>
              <a:ea typeface="思源黑体 CN Bold" panose="020B0800000000000000" pitchFamily="34" charset="-122"/>
            </a:endParaRPr>
          </a:p>
        </p:txBody>
      </p:sp>
      <p:pic>
        <p:nvPicPr>
          <p:cNvPr id="72" name="图片 71">
            <a:extLst>
              <a:ext uri="{FF2B5EF4-FFF2-40B4-BE49-F238E27FC236}">
                <a16:creationId xmlns:a16="http://schemas.microsoft.com/office/drawing/2014/main" id="{D8C96E8A-7093-7FFC-12E5-645B178534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722442">
            <a:off x="8458096" y="392122"/>
            <a:ext cx="885824" cy="1729466"/>
          </a:xfrm>
          <a:prstGeom prst="rect">
            <a:avLst/>
          </a:prstGeom>
        </p:spPr>
      </p:pic>
      <p:pic>
        <p:nvPicPr>
          <p:cNvPr id="74" name="图片 73">
            <a:extLst>
              <a:ext uri="{FF2B5EF4-FFF2-40B4-BE49-F238E27FC236}">
                <a16:creationId xmlns:a16="http://schemas.microsoft.com/office/drawing/2014/main" id="{42B8EAB1-C7AC-4855-7290-847F20BAA3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0722442">
            <a:off x="9202920" y="2078831"/>
            <a:ext cx="934032" cy="1464321"/>
          </a:xfrm>
          <a:prstGeom prst="rect">
            <a:avLst/>
          </a:prstGeom>
        </p:spPr>
      </p:pic>
      <p:grpSp>
        <p:nvGrpSpPr>
          <p:cNvPr id="2" name="组合 1">
            <a:extLst>
              <a:ext uri="{FF2B5EF4-FFF2-40B4-BE49-F238E27FC236}">
                <a16:creationId xmlns:a16="http://schemas.microsoft.com/office/drawing/2014/main" id="{56A2EB5D-33F0-CF9F-B37F-82BAEA5D5D8B}"/>
              </a:ext>
            </a:extLst>
          </p:cNvPr>
          <p:cNvGrpSpPr/>
          <p:nvPr/>
        </p:nvGrpSpPr>
        <p:grpSpPr>
          <a:xfrm rot="4541651">
            <a:off x="2145488" y="-1559353"/>
            <a:ext cx="6928416" cy="11112839"/>
            <a:chOff x="4704061" y="-953992"/>
            <a:chExt cx="5193541" cy="8468369"/>
          </a:xfrm>
        </p:grpSpPr>
        <p:pic>
          <p:nvPicPr>
            <p:cNvPr id="32" name="图形 31">
              <a:extLst>
                <a:ext uri="{FF2B5EF4-FFF2-40B4-BE49-F238E27FC236}">
                  <a16:creationId xmlns:a16="http://schemas.microsoft.com/office/drawing/2014/main" id="{865A9DA0-626D-FB2D-F142-0CDBD5FFD1D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796256">
              <a:off x="7656391" y="7314732"/>
              <a:ext cx="210737" cy="199645"/>
            </a:xfrm>
            <a:prstGeom prst="rect">
              <a:avLst/>
            </a:prstGeom>
          </p:spPr>
        </p:pic>
        <p:pic>
          <p:nvPicPr>
            <p:cNvPr id="34" name="图形 33">
              <a:extLst>
                <a:ext uri="{FF2B5EF4-FFF2-40B4-BE49-F238E27FC236}">
                  <a16:creationId xmlns:a16="http://schemas.microsoft.com/office/drawing/2014/main" id="{C8EE9017-4812-7994-0B77-E9C84519915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488484">
              <a:off x="8964869" y="1375449"/>
              <a:ext cx="210737" cy="199645"/>
            </a:xfrm>
            <a:prstGeom prst="rect">
              <a:avLst/>
            </a:prstGeom>
          </p:spPr>
        </p:pic>
        <p:pic>
          <p:nvPicPr>
            <p:cNvPr id="35" name="图形 34">
              <a:extLst>
                <a:ext uri="{FF2B5EF4-FFF2-40B4-BE49-F238E27FC236}">
                  <a16:creationId xmlns:a16="http://schemas.microsoft.com/office/drawing/2014/main" id="{144424EC-D9BD-DC66-C630-023EA87EFBC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796256">
              <a:off x="4704061" y="2142081"/>
              <a:ext cx="360734" cy="341747"/>
            </a:xfrm>
            <a:prstGeom prst="rect">
              <a:avLst/>
            </a:prstGeom>
          </p:spPr>
        </p:pic>
        <p:pic>
          <p:nvPicPr>
            <p:cNvPr id="37" name="图形 36">
              <a:extLst>
                <a:ext uri="{FF2B5EF4-FFF2-40B4-BE49-F238E27FC236}">
                  <a16:creationId xmlns:a16="http://schemas.microsoft.com/office/drawing/2014/main" id="{3D8F6504-33F1-613C-0628-53CB14E464E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20161002">
              <a:off x="8715143" y="2170848"/>
              <a:ext cx="296626" cy="281013"/>
            </a:xfrm>
            <a:prstGeom prst="rect">
              <a:avLst/>
            </a:prstGeom>
          </p:spPr>
        </p:pic>
        <p:pic>
          <p:nvPicPr>
            <p:cNvPr id="38" name="图形 37">
              <a:extLst>
                <a:ext uri="{FF2B5EF4-FFF2-40B4-BE49-F238E27FC236}">
                  <a16:creationId xmlns:a16="http://schemas.microsoft.com/office/drawing/2014/main" id="{1DE7BC59-E9F4-07D6-B0D1-B4A53E1EEAE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244571">
              <a:off x="5951033" y="2840482"/>
              <a:ext cx="199348" cy="188856"/>
            </a:xfrm>
            <a:prstGeom prst="rect">
              <a:avLst/>
            </a:prstGeom>
          </p:spPr>
        </p:pic>
        <p:pic>
          <p:nvPicPr>
            <p:cNvPr id="39" name="图形 38">
              <a:extLst>
                <a:ext uri="{FF2B5EF4-FFF2-40B4-BE49-F238E27FC236}">
                  <a16:creationId xmlns:a16="http://schemas.microsoft.com/office/drawing/2014/main" id="{52E3719A-9087-51F0-B786-F748A108888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21160275">
              <a:off x="9742625" y="-953992"/>
              <a:ext cx="154977" cy="146819"/>
            </a:xfrm>
            <a:prstGeom prst="rect">
              <a:avLst/>
            </a:prstGeom>
          </p:spPr>
        </p:pic>
      </p:grpSp>
      <p:sp>
        <p:nvSpPr>
          <p:cNvPr id="5" name="椭圆 4">
            <a:extLst>
              <a:ext uri="{FF2B5EF4-FFF2-40B4-BE49-F238E27FC236}">
                <a16:creationId xmlns:a16="http://schemas.microsoft.com/office/drawing/2014/main" id="{04D6F7BD-3F23-DDF6-4F7E-D7A6AD0F392C}"/>
              </a:ext>
            </a:extLst>
          </p:cNvPr>
          <p:cNvSpPr/>
          <p:nvPr/>
        </p:nvSpPr>
        <p:spPr>
          <a:xfrm>
            <a:off x="994589" y="5460224"/>
            <a:ext cx="563054" cy="563054"/>
          </a:xfrm>
          <a:prstGeom prst="ellipse">
            <a:avLst/>
          </a:prstGeom>
          <a:solidFill>
            <a:srgbClr val="0C5D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副标题 13">
            <a:extLst>
              <a:ext uri="{FF2B5EF4-FFF2-40B4-BE49-F238E27FC236}">
                <a16:creationId xmlns:a16="http://schemas.microsoft.com/office/drawing/2014/main" id="{7B7E58A8-626A-AC9F-5460-12A96FE9E1B2}"/>
              </a:ext>
            </a:extLst>
          </p:cNvPr>
          <p:cNvSpPr txBox="1">
            <a:spLocks/>
          </p:cNvSpPr>
          <p:nvPr/>
        </p:nvSpPr>
        <p:spPr>
          <a:xfrm>
            <a:off x="989827" y="5553967"/>
            <a:ext cx="579360" cy="4107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2400" dirty="0">
                <a:solidFill>
                  <a:srgbClr val="E9FFD6"/>
                </a:solidFill>
                <a:latin typeface="思源黑体 CN Bold" panose="020B0800000000000000" pitchFamily="34" charset="-122"/>
                <a:ea typeface="思源黑体 CN Bold" panose="020B0800000000000000" pitchFamily="34" charset="-122"/>
              </a:rPr>
              <a:t>05</a:t>
            </a:r>
            <a:endParaRPr lang="zh-CN" altLang="en-US" sz="2400" dirty="0">
              <a:solidFill>
                <a:srgbClr val="E9FFD6"/>
              </a:solidFill>
              <a:latin typeface="思源黑体 CN Bold" panose="020B0800000000000000" pitchFamily="34" charset="-122"/>
              <a:ea typeface="思源黑体 CN Bold" panose="020B0800000000000000" pitchFamily="34" charset="-122"/>
            </a:endParaRPr>
          </a:p>
        </p:txBody>
      </p:sp>
      <p:sp>
        <p:nvSpPr>
          <p:cNvPr id="7" name="副标题 13">
            <a:extLst>
              <a:ext uri="{FF2B5EF4-FFF2-40B4-BE49-F238E27FC236}">
                <a16:creationId xmlns:a16="http://schemas.microsoft.com/office/drawing/2014/main" id="{065A67FA-FA4F-1646-FBEA-DE437D756760}"/>
              </a:ext>
            </a:extLst>
          </p:cNvPr>
          <p:cNvSpPr txBox="1">
            <a:spLocks/>
          </p:cNvSpPr>
          <p:nvPr/>
        </p:nvSpPr>
        <p:spPr>
          <a:xfrm>
            <a:off x="1859951" y="5540383"/>
            <a:ext cx="2834952" cy="482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solidFill>
                  <a:srgbClr val="0C5D60"/>
                </a:solidFill>
                <a:latin typeface="思源黑体 CN Bold" panose="020B0800000000000000" pitchFamily="34" charset="-122"/>
                <a:ea typeface="思源黑体 CN Bold" panose="020B0800000000000000" pitchFamily="34" charset="-122"/>
              </a:rPr>
              <a:t>民族自强文化</a:t>
            </a:r>
            <a:endParaRPr lang="en-US" altLang="zh-CN" dirty="0">
              <a:solidFill>
                <a:srgbClr val="0C5D60"/>
              </a:solidFill>
              <a:latin typeface="思源黑体 CN Bold" panose="020B0800000000000000" pitchFamily="34" charset="-122"/>
              <a:ea typeface="思源黑体 CN Bold" panose="020B0800000000000000" pitchFamily="34" charset="-122"/>
            </a:endParaRPr>
          </a:p>
        </p:txBody>
      </p:sp>
    </p:spTree>
    <p:extLst>
      <p:ext uri="{BB962C8B-B14F-4D97-AF65-F5344CB8AC3E}">
        <p14:creationId xmlns:p14="http://schemas.microsoft.com/office/powerpoint/2010/main" val="155080098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nodeType="clickEffect">
                                  <p:stCondLst>
                                    <p:cond delay="0"/>
                                  </p:stCondLst>
                                  <p:childTnLst>
                                    <p:set>
                                      <p:cBhvr>
                                        <p:cTn id="15" dur="1" fill="hold">
                                          <p:stCondLst>
                                            <p:cond delay="0"/>
                                          </p:stCondLst>
                                        </p:cTn>
                                        <p:tgtEl>
                                          <p:spTgt spid="43"/>
                                        </p:tgtEl>
                                        <p:attrNameLst>
                                          <p:attrName>style.visibility</p:attrName>
                                        </p:attrNameLst>
                                      </p:cBhvr>
                                      <p:to>
                                        <p:strVal val="visible"/>
                                      </p:to>
                                    </p:set>
                                    <p:anim calcmode="lin" valueType="num">
                                      <p:cBhvr additive="base">
                                        <p:cTn id="16" dur="500" fill="hold"/>
                                        <p:tgtEl>
                                          <p:spTgt spid="43"/>
                                        </p:tgtEl>
                                        <p:attrNameLst>
                                          <p:attrName>ppt_x</p:attrName>
                                        </p:attrNameLst>
                                      </p:cBhvr>
                                      <p:tavLst>
                                        <p:tav tm="0">
                                          <p:val>
                                            <p:strVal val="1+#ppt_w/2"/>
                                          </p:val>
                                        </p:tav>
                                        <p:tav tm="100000">
                                          <p:val>
                                            <p:strVal val="#ppt_x"/>
                                          </p:val>
                                        </p:tav>
                                      </p:tavLst>
                                    </p:anim>
                                    <p:anim calcmode="lin" valueType="num">
                                      <p:cBhvr additive="base">
                                        <p:cTn id="17" dur="500" fill="hold"/>
                                        <p:tgtEl>
                                          <p:spTgt spid="43"/>
                                        </p:tgtEl>
                                        <p:attrNameLst>
                                          <p:attrName>ppt_y</p:attrName>
                                        </p:attrNameLst>
                                      </p:cBhvr>
                                      <p:tavLst>
                                        <p:tav tm="0">
                                          <p:val>
                                            <p:strVal val="#ppt_y"/>
                                          </p:val>
                                        </p:tav>
                                        <p:tav tm="100000">
                                          <p:val>
                                            <p:strVal val="#ppt_y"/>
                                          </p:val>
                                        </p:tav>
                                      </p:tavLst>
                                    </p:anim>
                                  </p:childTnLst>
                                </p:cTn>
                              </p:par>
                              <p:par>
                                <p:cTn id="18" presetID="16" presetClass="entr" presetSubtype="21"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barn(inVertical)">
                                      <p:cBhvr>
                                        <p:cTn id="20" dur="500"/>
                                        <p:tgtEl>
                                          <p:spTgt spid="1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barn(inVertical)">
                                      <p:cBhvr>
                                        <p:cTn id="23" dur="500"/>
                                        <p:tgtEl>
                                          <p:spTgt spid="17"/>
                                        </p:tgtEl>
                                      </p:cBhvr>
                                    </p:animEffect>
                                  </p:childTnLst>
                                </p:cTn>
                              </p:par>
                              <p:par>
                                <p:cTn id="24" presetID="10" presetClass="entr" presetSubtype="0" fill="hold" nodeType="withEffect">
                                  <p:stCondLst>
                                    <p:cond delay="0"/>
                                  </p:stCondLst>
                                  <p:childTnLst>
                                    <p:set>
                                      <p:cBhvr>
                                        <p:cTn id="25" dur="1" fill="hold">
                                          <p:stCondLst>
                                            <p:cond delay="0"/>
                                          </p:stCondLst>
                                        </p:cTn>
                                        <p:tgtEl>
                                          <p:spTgt spid="72"/>
                                        </p:tgtEl>
                                        <p:attrNameLst>
                                          <p:attrName>style.visibility</p:attrName>
                                        </p:attrNameLst>
                                      </p:cBhvr>
                                      <p:to>
                                        <p:strVal val="visible"/>
                                      </p:to>
                                    </p:set>
                                    <p:animEffect transition="in" filter="fade">
                                      <p:cBhvr>
                                        <p:cTn id="26" dur="250"/>
                                        <p:tgtEl>
                                          <p:spTgt spid="72"/>
                                        </p:tgtEl>
                                      </p:cBhvr>
                                    </p:animEffect>
                                  </p:childTnLst>
                                </p:cTn>
                              </p:par>
                              <p:par>
                                <p:cTn id="27" presetID="10" presetClass="entr" presetSubtype="0" fill="hold" nodeType="withEffect">
                                  <p:stCondLst>
                                    <p:cond delay="0"/>
                                  </p:stCondLst>
                                  <p:childTnLst>
                                    <p:set>
                                      <p:cBhvr>
                                        <p:cTn id="28" dur="1" fill="hold">
                                          <p:stCondLst>
                                            <p:cond delay="0"/>
                                          </p:stCondLst>
                                        </p:cTn>
                                        <p:tgtEl>
                                          <p:spTgt spid="74"/>
                                        </p:tgtEl>
                                        <p:attrNameLst>
                                          <p:attrName>style.visibility</p:attrName>
                                        </p:attrNameLst>
                                      </p:cBhvr>
                                      <p:to>
                                        <p:strVal val="visible"/>
                                      </p:to>
                                    </p:set>
                                    <p:animEffect transition="in" filter="fade">
                                      <p:cBhvr>
                                        <p:cTn id="29" dur="250"/>
                                        <p:tgtEl>
                                          <p:spTgt spid="74"/>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55"/>
                                        </p:tgtEl>
                                        <p:attrNameLst>
                                          <p:attrName>style.visibility</p:attrName>
                                        </p:attrNameLst>
                                      </p:cBhvr>
                                      <p:to>
                                        <p:strVal val="visible"/>
                                      </p:to>
                                    </p:set>
                                    <p:animEffect transition="in" filter="randombar(horizontal)">
                                      <p:cBhvr>
                                        <p:cTn id="34" dur="250"/>
                                        <p:tgtEl>
                                          <p:spTgt spid="55"/>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randombar(horizontal)">
                                      <p:cBhvr>
                                        <p:cTn id="37" dur="250"/>
                                        <p:tgtEl>
                                          <p:spTgt spid="18"/>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randombar(horizontal)">
                                      <p:cBhvr>
                                        <p:cTn id="40" dur="250"/>
                                        <p:tgtEl>
                                          <p:spTgt spid="45"/>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grpId="0" nodeType="clickEffect">
                                  <p:stCondLst>
                                    <p:cond delay="0"/>
                                  </p:stCondLst>
                                  <p:childTnLst>
                                    <p:set>
                                      <p:cBhvr>
                                        <p:cTn id="44" dur="1" fill="hold">
                                          <p:stCondLst>
                                            <p:cond delay="0"/>
                                          </p:stCondLst>
                                        </p:cTn>
                                        <p:tgtEl>
                                          <p:spTgt spid="62"/>
                                        </p:tgtEl>
                                        <p:attrNameLst>
                                          <p:attrName>style.visibility</p:attrName>
                                        </p:attrNameLst>
                                      </p:cBhvr>
                                      <p:to>
                                        <p:strVal val="visible"/>
                                      </p:to>
                                    </p:set>
                                    <p:animEffect transition="in" filter="randombar(horizontal)">
                                      <p:cBhvr>
                                        <p:cTn id="45" dur="500"/>
                                        <p:tgtEl>
                                          <p:spTgt spid="62"/>
                                        </p:tgtEl>
                                      </p:cBhvr>
                                    </p:animEffect>
                                  </p:childTnLst>
                                </p:cTn>
                              </p:par>
                              <p:par>
                                <p:cTn id="46" presetID="14" presetClass="entr" presetSubtype="10" fill="hold" grpId="0" nodeType="withEffect">
                                  <p:stCondLst>
                                    <p:cond delay="0"/>
                                  </p:stCondLst>
                                  <p:childTnLst>
                                    <p:set>
                                      <p:cBhvr>
                                        <p:cTn id="47" dur="1" fill="hold">
                                          <p:stCondLst>
                                            <p:cond delay="0"/>
                                          </p:stCondLst>
                                        </p:cTn>
                                        <p:tgtEl>
                                          <p:spTgt spid="63"/>
                                        </p:tgtEl>
                                        <p:attrNameLst>
                                          <p:attrName>style.visibility</p:attrName>
                                        </p:attrNameLst>
                                      </p:cBhvr>
                                      <p:to>
                                        <p:strVal val="visible"/>
                                      </p:to>
                                    </p:set>
                                    <p:animEffect transition="in" filter="randombar(horizontal)">
                                      <p:cBhvr>
                                        <p:cTn id="48" dur="500"/>
                                        <p:tgtEl>
                                          <p:spTgt spid="63"/>
                                        </p:tgtEl>
                                      </p:cBhvr>
                                    </p:animEffect>
                                  </p:childTnLst>
                                </p:cTn>
                              </p:par>
                              <p:par>
                                <p:cTn id="49" presetID="14" presetClass="entr" presetSubtype="10" fill="hold" grpId="0" nodeType="withEffect">
                                  <p:stCondLst>
                                    <p:cond delay="0"/>
                                  </p:stCondLst>
                                  <p:childTnLst>
                                    <p:set>
                                      <p:cBhvr>
                                        <p:cTn id="50" dur="1" fill="hold">
                                          <p:stCondLst>
                                            <p:cond delay="0"/>
                                          </p:stCondLst>
                                        </p:cTn>
                                        <p:tgtEl>
                                          <p:spTgt spid="64"/>
                                        </p:tgtEl>
                                        <p:attrNameLst>
                                          <p:attrName>style.visibility</p:attrName>
                                        </p:attrNameLst>
                                      </p:cBhvr>
                                      <p:to>
                                        <p:strVal val="visible"/>
                                      </p:to>
                                    </p:set>
                                    <p:animEffect transition="in" filter="randombar(horizontal)">
                                      <p:cBhvr>
                                        <p:cTn id="51" dur="500"/>
                                        <p:tgtEl>
                                          <p:spTgt spid="64"/>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65"/>
                                        </p:tgtEl>
                                        <p:attrNameLst>
                                          <p:attrName>style.visibility</p:attrName>
                                        </p:attrNameLst>
                                      </p:cBhvr>
                                      <p:to>
                                        <p:strVal val="visible"/>
                                      </p:to>
                                    </p:set>
                                    <p:animEffect transition="in" filter="randombar(horizontal)">
                                      <p:cBhvr>
                                        <p:cTn id="56" dur="500"/>
                                        <p:tgtEl>
                                          <p:spTgt spid="65"/>
                                        </p:tgtEl>
                                      </p:cBhvr>
                                    </p:animEffect>
                                  </p:childTnLst>
                                </p:cTn>
                              </p:par>
                              <p:par>
                                <p:cTn id="57" presetID="14" presetClass="entr" presetSubtype="10" fill="hold" grpId="0" nodeType="withEffect">
                                  <p:stCondLst>
                                    <p:cond delay="0"/>
                                  </p:stCondLst>
                                  <p:childTnLst>
                                    <p:set>
                                      <p:cBhvr>
                                        <p:cTn id="58" dur="1" fill="hold">
                                          <p:stCondLst>
                                            <p:cond delay="0"/>
                                          </p:stCondLst>
                                        </p:cTn>
                                        <p:tgtEl>
                                          <p:spTgt spid="66"/>
                                        </p:tgtEl>
                                        <p:attrNameLst>
                                          <p:attrName>style.visibility</p:attrName>
                                        </p:attrNameLst>
                                      </p:cBhvr>
                                      <p:to>
                                        <p:strVal val="visible"/>
                                      </p:to>
                                    </p:set>
                                    <p:animEffect transition="in" filter="randombar(horizontal)">
                                      <p:cBhvr>
                                        <p:cTn id="59" dur="500"/>
                                        <p:tgtEl>
                                          <p:spTgt spid="66"/>
                                        </p:tgtEl>
                                      </p:cBhvr>
                                    </p:animEffect>
                                  </p:childTnLst>
                                </p:cTn>
                              </p:par>
                              <p:par>
                                <p:cTn id="60" presetID="14" presetClass="entr" presetSubtype="10" fill="hold" grpId="0" nodeType="withEffect">
                                  <p:stCondLst>
                                    <p:cond delay="0"/>
                                  </p:stCondLst>
                                  <p:childTnLst>
                                    <p:set>
                                      <p:cBhvr>
                                        <p:cTn id="61" dur="1" fill="hold">
                                          <p:stCondLst>
                                            <p:cond delay="0"/>
                                          </p:stCondLst>
                                        </p:cTn>
                                        <p:tgtEl>
                                          <p:spTgt spid="67"/>
                                        </p:tgtEl>
                                        <p:attrNameLst>
                                          <p:attrName>style.visibility</p:attrName>
                                        </p:attrNameLst>
                                      </p:cBhvr>
                                      <p:to>
                                        <p:strVal val="visible"/>
                                      </p:to>
                                    </p:set>
                                    <p:animEffect transition="in" filter="randombar(horizontal)">
                                      <p:cBhvr>
                                        <p:cTn id="62" dur="500"/>
                                        <p:tgtEl>
                                          <p:spTgt spid="67"/>
                                        </p:tgtEl>
                                      </p:cBhvr>
                                    </p:animEffect>
                                  </p:childTnLst>
                                </p:cTn>
                              </p:par>
                            </p:childTnLst>
                          </p:cTn>
                        </p:par>
                      </p:childTnLst>
                    </p:cTn>
                  </p:par>
                  <p:par>
                    <p:cTn id="63" fill="hold">
                      <p:stCondLst>
                        <p:cond delay="indefinite"/>
                      </p:stCondLst>
                      <p:childTnLst>
                        <p:par>
                          <p:cTn id="64" fill="hold">
                            <p:stCondLst>
                              <p:cond delay="0"/>
                            </p:stCondLst>
                            <p:childTnLst>
                              <p:par>
                                <p:cTn id="65" presetID="14" presetClass="entr" presetSubtype="10" fill="hold" grpId="0" nodeType="clickEffect">
                                  <p:stCondLst>
                                    <p:cond delay="0"/>
                                  </p:stCondLst>
                                  <p:childTnLst>
                                    <p:set>
                                      <p:cBhvr>
                                        <p:cTn id="66" dur="1" fill="hold">
                                          <p:stCondLst>
                                            <p:cond delay="0"/>
                                          </p:stCondLst>
                                        </p:cTn>
                                        <p:tgtEl>
                                          <p:spTgt spid="68"/>
                                        </p:tgtEl>
                                        <p:attrNameLst>
                                          <p:attrName>style.visibility</p:attrName>
                                        </p:attrNameLst>
                                      </p:cBhvr>
                                      <p:to>
                                        <p:strVal val="visible"/>
                                      </p:to>
                                    </p:set>
                                    <p:animEffect transition="in" filter="randombar(horizontal)">
                                      <p:cBhvr>
                                        <p:cTn id="67" dur="500"/>
                                        <p:tgtEl>
                                          <p:spTgt spid="68"/>
                                        </p:tgtEl>
                                      </p:cBhvr>
                                    </p:animEffect>
                                  </p:childTnLst>
                                </p:cTn>
                              </p:par>
                              <p:par>
                                <p:cTn id="68" presetID="14" presetClass="entr" presetSubtype="10" fill="hold" grpId="0" nodeType="withEffect">
                                  <p:stCondLst>
                                    <p:cond delay="0"/>
                                  </p:stCondLst>
                                  <p:childTnLst>
                                    <p:set>
                                      <p:cBhvr>
                                        <p:cTn id="69" dur="1" fill="hold">
                                          <p:stCondLst>
                                            <p:cond delay="0"/>
                                          </p:stCondLst>
                                        </p:cTn>
                                        <p:tgtEl>
                                          <p:spTgt spid="69"/>
                                        </p:tgtEl>
                                        <p:attrNameLst>
                                          <p:attrName>style.visibility</p:attrName>
                                        </p:attrNameLst>
                                      </p:cBhvr>
                                      <p:to>
                                        <p:strVal val="visible"/>
                                      </p:to>
                                    </p:set>
                                    <p:animEffect transition="in" filter="randombar(horizontal)">
                                      <p:cBhvr>
                                        <p:cTn id="70" dur="500"/>
                                        <p:tgtEl>
                                          <p:spTgt spid="69"/>
                                        </p:tgtEl>
                                      </p:cBhvr>
                                    </p:animEffect>
                                  </p:childTnLst>
                                </p:cTn>
                              </p:par>
                              <p:par>
                                <p:cTn id="71" presetID="14" presetClass="entr" presetSubtype="10" fill="hold" grpId="0" nodeType="withEffect">
                                  <p:stCondLst>
                                    <p:cond delay="0"/>
                                  </p:stCondLst>
                                  <p:childTnLst>
                                    <p:set>
                                      <p:cBhvr>
                                        <p:cTn id="72" dur="1" fill="hold">
                                          <p:stCondLst>
                                            <p:cond delay="0"/>
                                          </p:stCondLst>
                                        </p:cTn>
                                        <p:tgtEl>
                                          <p:spTgt spid="70"/>
                                        </p:tgtEl>
                                        <p:attrNameLst>
                                          <p:attrName>style.visibility</p:attrName>
                                        </p:attrNameLst>
                                      </p:cBhvr>
                                      <p:to>
                                        <p:strVal val="visible"/>
                                      </p:to>
                                    </p:set>
                                    <p:animEffect transition="in" filter="randombar(horizontal)">
                                      <p:cBhvr>
                                        <p:cTn id="73" dur="500"/>
                                        <p:tgtEl>
                                          <p:spTgt spid="70"/>
                                        </p:tgtEl>
                                      </p:cBhvr>
                                    </p:animEffect>
                                  </p:childTnLst>
                                </p:cTn>
                              </p:par>
                            </p:childTnLst>
                          </p:cTn>
                        </p:par>
                      </p:childTnLst>
                    </p:cTn>
                  </p:par>
                  <p:par>
                    <p:cTn id="74" fill="hold">
                      <p:stCondLst>
                        <p:cond delay="indefinite"/>
                      </p:stCondLst>
                      <p:childTnLst>
                        <p:par>
                          <p:cTn id="75" fill="hold">
                            <p:stCondLst>
                              <p:cond delay="0"/>
                            </p:stCondLst>
                            <p:childTnLst>
                              <p:par>
                                <p:cTn id="76" presetID="14" presetClass="entr" presetSubtype="10" fill="hold" grpId="0" nodeType="clickEffect">
                                  <p:stCondLst>
                                    <p:cond delay="0"/>
                                  </p:stCondLst>
                                  <p:childTnLst>
                                    <p:set>
                                      <p:cBhvr>
                                        <p:cTn id="77" dur="1" fill="hold">
                                          <p:stCondLst>
                                            <p:cond delay="0"/>
                                          </p:stCondLst>
                                        </p:cTn>
                                        <p:tgtEl>
                                          <p:spTgt spid="5"/>
                                        </p:tgtEl>
                                        <p:attrNameLst>
                                          <p:attrName>style.visibility</p:attrName>
                                        </p:attrNameLst>
                                      </p:cBhvr>
                                      <p:to>
                                        <p:strVal val="visible"/>
                                      </p:to>
                                    </p:set>
                                    <p:animEffect transition="in" filter="randombar(horizontal)">
                                      <p:cBhvr>
                                        <p:cTn id="78" dur="500"/>
                                        <p:tgtEl>
                                          <p:spTgt spid="5"/>
                                        </p:tgtEl>
                                      </p:cBhvr>
                                    </p:animEffect>
                                  </p:childTnLst>
                                </p:cTn>
                              </p:par>
                              <p:par>
                                <p:cTn id="79" presetID="14" presetClass="entr" presetSubtype="10" fill="hold" grpId="0" nodeType="with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randombar(horizontal)">
                                      <p:cBhvr>
                                        <p:cTn id="81" dur="500"/>
                                        <p:tgtEl>
                                          <p:spTgt spid="6"/>
                                        </p:tgtEl>
                                      </p:cBhvr>
                                    </p:animEffect>
                                  </p:childTnLst>
                                </p:cTn>
                              </p:par>
                              <p:par>
                                <p:cTn id="82" presetID="14" presetClass="entr" presetSubtype="10" fill="hold" grpId="0" nodeType="withEffect">
                                  <p:stCondLst>
                                    <p:cond delay="0"/>
                                  </p:stCondLst>
                                  <p:childTnLst>
                                    <p:set>
                                      <p:cBhvr>
                                        <p:cTn id="83" dur="1" fill="hold">
                                          <p:stCondLst>
                                            <p:cond delay="0"/>
                                          </p:stCondLst>
                                        </p:cTn>
                                        <p:tgtEl>
                                          <p:spTgt spid="7"/>
                                        </p:tgtEl>
                                        <p:attrNameLst>
                                          <p:attrName>style.visibility</p:attrName>
                                        </p:attrNameLst>
                                      </p:cBhvr>
                                      <p:to>
                                        <p:strVal val="visible"/>
                                      </p:to>
                                    </p:set>
                                    <p:animEffect transition="in" filter="randombar(horizontal)">
                                      <p:cBhvr>
                                        <p:cTn id="8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55" grpId="0" animBg="1"/>
      <p:bldP spid="18" grpId="0"/>
      <p:bldP spid="45" grpId="0"/>
      <p:bldP spid="62" grpId="0" animBg="1"/>
      <p:bldP spid="63" grpId="0"/>
      <p:bldP spid="64" grpId="0"/>
      <p:bldP spid="65" grpId="0" animBg="1"/>
      <p:bldP spid="66" grpId="0"/>
      <p:bldP spid="67" grpId="0"/>
      <p:bldP spid="68" grpId="0" animBg="1"/>
      <p:bldP spid="69" grpId="0"/>
      <p:bldP spid="70" grpId="0"/>
      <p:bldP spid="5" grpId="0" animBg="1"/>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1DA74339-F46A-C82F-5273-6AB3911850B0}"/>
              </a:ext>
            </a:extLst>
          </p:cNvPr>
          <p:cNvSpPr txBox="1"/>
          <p:nvPr/>
        </p:nvSpPr>
        <p:spPr>
          <a:xfrm>
            <a:off x="3736062" y="6219374"/>
            <a:ext cx="2514600" cy="276999"/>
          </a:xfrm>
          <a:prstGeom prst="rect">
            <a:avLst/>
          </a:prstGeom>
          <a:noFill/>
        </p:spPr>
        <p:txBody>
          <a:bodyPr wrap="square" rtlCol="0">
            <a:spAutoFit/>
          </a:bodyPr>
          <a:lstStyle/>
          <a:p>
            <a:pPr algn="ctr"/>
            <a:r>
              <a:rPr lang="en-US" altLang="zh-CN" sz="1200" dirty="0">
                <a:solidFill>
                  <a:srgbClr val="00A99D"/>
                </a:solidFill>
                <a:latin typeface="思源黑体 CN Bold" panose="020B0800000000000000" pitchFamily="34" charset="-122"/>
                <a:ea typeface="思源黑体 CN Bold" panose="020B0800000000000000" pitchFamily="34" charset="-122"/>
              </a:rPr>
              <a:t>2022 </a:t>
            </a:r>
            <a:r>
              <a:rPr lang="zh-CN" altLang="en-US" sz="1200" dirty="0">
                <a:solidFill>
                  <a:srgbClr val="00A99D"/>
                </a:solidFill>
                <a:latin typeface="思源黑体 CN Bold" panose="020B0800000000000000" pitchFamily="34" charset="-122"/>
                <a:ea typeface="思源黑体 CN Bold" panose="020B0800000000000000" pitchFamily="34" charset="-122"/>
              </a:rPr>
              <a:t>第七届中国开源年会</a:t>
            </a:r>
          </a:p>
        </p:txBody>
      </p:sp>
      <p:sp>
        <p:nvSpPr>
          <p:cNvPr id="7" name="文本框 6">
            <a:extLst>
              <a:ext uri="{FF2B5EF4-FFF2-40B4-BE49-F238E27FC236}">
                <a16:creationId xmlns:a16="http://schemas.microsoft.com/office/drawing/2014/main" id="{33855C7E-8DDB-ED8C-19BF-2D5476B33B9F}"/>
              </a:ext>
            </a:extLst>
          </p:cNvPr>
          <p:cNvSpPr txBox="1"/>
          <p:nvPr/>
        </p:nvSpPr>
        <p:spPr>
          <a:xfrm>
            <a:off x="6096000" y="6210662"/>
            <a:ext cx="2205275" cy="276999"/>
          </a:xfrm>
          <a:prstGeom prst="rect">
            <a:avLst/>
          </a:prstGeom>
          <a:noFill/>
        </p:spPr>
        <p:txBody>
          <a:bodyPr wrap="square" rtlCol="0">
            <a:spAutoFit/>
          </a:bodyPr>
          <a:lstStyle/>
          <a:p>
            <a:pPr algn="ctr"/>
            <a:r>
              <a:rPr lang="en-US" altLang="zh-CN" sz="1200" dirty="0">
                <a:solidFill>
                  <a:srgbClr val="00A99D"/>
                </a:solidFill>
                <a:latin typeface="思源黑体 CN Bold" panose="020B0800000000000000" pitchFamily="34" charset="-122"/>
                <a:ea typeface="思源黑体 CN Bold" panose="020B0800000000000000" pitchFamily="34" charset="-122"/>
              </a:rPr>
              <a:t>OPEN THE WORLD</a:t>
            </a:r>
            <a:endParaRPr lang="zh-CN" altLang="en-US" sz="1200" dirty="0">
              <a:solidFill>
                <a:srgbClr val="00A99D"/>
              </a:solidFill>
              <a:latin typeface="思源黑体 CN Bold" panose="020B0800000000000000" pitchFamily="34" charset="-122"/>
              <a:ea typeface="思源黑体 CN Bold" panose="020B0800000000000000" pitchFamily="34" charset="-122"/>
            </a:endParaRPr>
          </a:p>
        </p:txBody>
      </p:sp>
      <p:pic>
        <p:nvPicPr>
          <p:cNvPr id="31" name="图片 30">
            <a:extLst>
              <a:ext uri="{FF2B5EF4-FFF2-40B4-BE49-F238E27FC236}">
                <a16:creationId xmlns:a16="http://schemas.microsoft.com/office/drawing/2014/main" id="{9B01581B-AEE0-812A-572E-DC021EB92F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pic>
        <p:nvPicPr>
          <p:cNvPr id="8" name="图片 7">
            <a:extLst>
              <a:ext uri="{FF2B5EF4-FFF2-40B4-BE49-F238E27FC236}">
                <a16:creationId xmlns:a16="http://schemas.microsoft.com/office/drawing/2014/main" id="{E0F02F53-2936-3BE6-F882-79822167F3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
        <p:nvSpPr>
          <p:cNvPr id="4" name="标题 3">
            <a:extLst>
              <a:ext uri="{FF2B5EF4-FFF2-40B4-BE49-F238E27FC236}">
                <a16:creationId xmlns:a16="http://schemas.microsoft.com/office/drawing/2014/main" id="{C70F515E-7342-6DC7-FB21-D262B46FEF7B}"/>
              </a:ext>
            </a:extLst>
          </p:cNvPr>
          <p:cNvSpPr txBox="1">
            <a:spLocks/>
          </p:cNvSpPr>
          <p:nvPr/>
        </p:nvSpPr>
        <p:spPr>
          <a:xfrm>
            <a:off x="979997" y="419101"/>
            <a:ext cx="3459268" cy="9801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800" dirty="0">
                <a:solidFill>
                  <a:srgbClr val="0C5D60"/>
                </a:solidFill>
                <a:latin typeface="YouSheBiaoTiYuan" panose="00000500000000000000" pitchFamily="50" charset="-122"/>
                <a:ea typeface="YouSheBiaoTiYuan" panose="00000500000000000000" pitchFamily="50" charset="-122"/>
              </a:rPr>
              <a:t>什么是文化？</a:t>
            </a:r>
          </a:p>
        </p:txBody>
      </p:sp>
      <p:sp>
        <p:nvSpPr>
          <p:cNvPr id="2" name="Rectangle 5">
            <a:extLst>
              <a:ext uri="{FF2B5EF4-FFF2-40B4-BE49-F238E27FC236}">
                <a16:creationId xmlns:a16="http://schemas.microsoft.com/office/drawing/2014/main" id="{7BC79BF4-83CF-FB85-C1EB-7E9F9E787D8F}"/>
              </a:ext>
            </a:extLst>
          </p:cNvPr>
          <p:cNvSpPr/>
          <p:nvPr/>
        </p:nvSpPr>
        <p:spPr>
          <a:xfrm>
            <a:off x="938981" y="1624507"/>
            <a:ext cx="8042787" cy="4412499"/>
          </a:xfrm>
          <a:prstGeom prst="rect">
            <a:avLst/>
          </a:prstGeom>
          <a:noFill/>
          <a:ln w="635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40000"/>
              </a:lnSpc>
            </a:pPr>
            <a:r>
              <a:rPr lang="zh-CN" altLang="en-US" sz="4400" b="1" dirty="0">
                <a:solidFill>
                  <a:srgbClr val="0C5D60"/>
                </a:solidFill>
                <a:latin typeface="思源黑体 CN Bold" panose="020B0800000000000000" pitchFamily="34" charset="-122"/>
                <a:ea typeface="思源黑体 CN Bold" panose="020B0800000000000000" pitchFamily="34" charset="-122"/>
                <a:cs typeface="Microsoft YaHei" charset="0"/>
              </a:rPr>
              <a:t>其实我也不太懂</a:t>
            </a:r>
            <a:endParaRPr lang="en-US" altLang="zh-CN" sz="4400" b="1" dirty="0">
              <a:solidFill>
                <a:srgbClr val="0C5D60"/>
              </a:solidFill>
              <a:latin typeface="思源黑体 CN Bold" panose="020B0800000000000000" pitchFamily="34" charset="-122"/>
              <a:ea typeface="思源黑体 CN Bold" panose="020B0800000000000000" pitchFamily="34" charset="-122"/>
              <a:cs typeface="Microsoft YaHei" charset="0"/>
            </a:endParaRPr>
          </a:p>
          <a:p>
            <a:pPr algn="ctr">
              <a:lnSpc>
                <a:spcPct val="140000"/>
              </a:lnSpc>
            </a:pPr>
            <a:endParaRPr lang="en-US" altLang="zh-CN" sz="4400" b="1" dirty="0">
              <a:solidFill>
                <a:srgbClr val="0C5D60"/>
              </a:solidFill>
              <a:latin typeface="思源黑体 CN Bold" panose="020B0800000000000000" pitchFamily="34" charset="-122"/>
              <a:ea typeface="思源黑体 CN Bold" panose="020B0800000000000000" pitchFamily="34" charset="-122"/>
              <a:cs typeface="Microsoft YaHei" charset="0"/>
            </a:endParaRPr>
          </a:p>
          <a:p>
            <a:pPr algn="ctr">
              <a:lnSpc>
                <a:spcPct val="140000"/>
              </a:lnSpc>
            </a:pPr>
            <a:r>
              <a:rPr lang="zh-CN" altLang="en-US" sz="4400" b="1" dirty="0">
                <a:solidFill>
                  <a:srgbClr val="0C5D60"/>
                </a:solidFill>
                <a:latin typeface="思源黑体 CN Bold" panose="020B0800000000000000" pitchFamily="34" charset="-122"/>
                <a:ea typeface="思源黑体 CN Bold" panose="020B0800000000000000" pitchFamily="34" charset="-122"/>
                <a:cs typeface="Microsoft YaHei" charset="0"/>
              </a:rPr>
              <a:t>最近，我正好在看一本书</a:t>
            </a:r>
          </a:p>
        </p:txBody>
      </p:sp>
      <p:pic>
        <p:nvPicPr>
          <p:cNvPr id="1026" name="Picture 2">
            <a:extLst>
              <a:ext uri="{FF2B5EF4-FFF2-40B4-BE49-F238E27FC236}">
                <a16:creationId xmlns:a16="http://schemas.microsoft.com/office/drawing/2014/main" id="{2B9EF3C3-E5F1-82D0-7120-D995A7831E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9063" y="1734027"/>
            <a:ext cx="2834467" cy="4193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212578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randombar(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A2AB8BD-896C-3BDF-32E7-17A01141B2FE}"/>
              </a:ext>
            </a:extLst>
          </p:cNvPr>
          <p:cNvSpPr txBox="1">
            <a:spLocks/>
          </p:cNvSpPr>
          <p:nvPr/>
        </p:nvSpPr>
        <p:spPr>
          <a:xfrm>
            <a:off x="979996" y="419101"/>
            <a:ext cx="6089397" cy="9801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800" dirty="0">
                <a:solidFill>
                  <a:srgbClr val="0C5D60"/>
                </a:solidFill>
                <a:latin typeface="YouSheBiaoTiYuan" panose="00000500000000000000" pitchFamily="50" charset="-122"/>
                <a:ea typeface="YouSheBiaoTiYuan" panose="00000500000000000000" pitchFamily="50" charset="-122"/>
              </a:rPr>
              <a:t>考古学家怎么看文化？</a:t>
            </a:r>
          </a:p>
        </p:txBody>
      </p:sp>
      <p:pic>
        <p:nvPicPr>
          <p:cNvPr id="2050" name="Picture 2">
            <a:extLst>
              <a:ext uri="{FF2B5EF4-FFF2-40B4-BE49-F238E27FC236}">
                <a16:creationId xmlns:a16="http://schemas.microsoft.com/office/drawing/2014/main" id="{7A4DB6F1-801A-61C8-498D-FDAC4C93C5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9937" y="1399282"/>
            <a:ext cx="5572125" cy="4886325"/>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C5CBB73B-840D-1C72-5308-B3F7A726D5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Tree>
    <p:extLst>
      <p:ext uri="{BB962C8B-B14F-4D97-AF65-F5344CB8AC3E}">
        <p14:creationId xmlns:p14="http://schemas.microsoft.com/office/powerpoint/2010/main" val="299733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A2AB8BD-896C-3BDF-32E7-17A01141B2FE}"/>
              </a:ext>
            </a:extLst>
          </p:cNvPr>
          <p:cNvSpPr txBox="1">
            <a:spLocks/>
          </p:cNvSpPr>
          <p:nvPr/>
        </p:nvSpPr>
        <p:spPr>
          <a:xfrm>
            <a:off x="979996" y="419101"/>
            <a:ext cx="6089397" cy="9801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800" dirty="0">
                <a:solidFill>
                  <a:srgbClr val="0C5D60"/>
                </a:solidFill>
                <a:latin typeface="YouSheBiaoTiYuan" panose="00000500000000000000" pitchFamily="50" charset="-122"/>
                <a:ea typeface="YouSheBiaoTiYuan" panose="00000500000000000000" pitchFamily="50" charset="-122"/>
              </a:rPr>
              <a:t>考古学家怎么看文化？</a:t>
            </a:r>
          </a:p>
        </p:txBody>
      </p:sp>
      <p:sp>
        <p:nvSpPr>
          <p:cNvPr id="3" name="内容占位符 2">
            <a:extLst>
              <a:ext uri="{FF2B5EF4-FFF2-40B4-BE49-F238E27FC236}">
                <a16:creationId xmlns:a16="http://schemas.microsoft.com/office/drawing/2014/main" id="{4CB879BC-E901-C49D-75EB-B1C73D148B93}"/>
              </a:ext>
            </a:extLst>
          </p:cNvPr>
          <p:cNvSpPr>
            <a:spLocks noGrp="1"/>
          </p:cNvSpPr>
          <p:nvPr>
            <p:ph idx="1"/>
          </p:nvPr>
        </p:nvSpPr>
        <p:spPr/>
        <p:txBody>
          <a:bodyPr/>
          <a:lstStyle/>
          <a:p>
            <a:r>
              <a:rPr lang="zh-CN" altLang="en-US" dirty="0"/>
              <a:t>地理位置（空间坐标）</a:t>
            </a:r>
            <a:endParaRPr lang="en-US" altLang="zh-CN" dirty="0"/>
          </a:p>
          <a:p>
            <a:r>
              <a:rPr lang="zh-CN" altLang="en-US" dirty="0"/>
              <a:t>年代（时间坐标）</a:t>
            </a:r>
            <a:endParaRPr lang="en-US" altLang="zh-CN" dirty="0"/>
          </a:p>
          <a:p>
            <a:r>
              <a:rPr lang="zh-CN" altLang="en-US" dirty="0"/>
              <a:t>器物（出土文物）</a:t>
            </a:r>
            <a:endParaRPr lang="en-US" altLang="zh-CN" dirty="0"/>
          </a:p>
          <a:p>
            <a:pPr lvl="1"/>
            <a:r>
              <a:rPr lang="zh-CN" altLang="en-US" dirty="0"/>
              <a:t>相似之处</a:t>
            </a:r>
            <a:endParaRPr lang="en-US" altLang="zh-CN" dirty="0"/>
          </a:p>
          <a:p>
            <a:pPr lvl="1"/>
            <a:r>
              <a:rPr lang="zh-CN" altLang="en-US" dirty="0"/>
              <a:t>差异之处</a:t>
            </a:r>
            <a:endParaRPr lang="en-US" altLang="zh-CN" dirty="0"/>
          </a:p>
          <a:p>
            <a:pPr lvl="1"/>
            <a:r>
              <a:rPr lang="zh-CN" altLang="en-US" dirty="0"/>
              <a:t>分布与传播的情况</a:t>
            </a:r>
            <a:endParaRPr lang="en-US" altLang="zh-CN" dirty="0"/>
          </a:p>
          <a:p>
            <a:r>
              <a:rPr lang="zh-CN" altLang="en-US" dirty="0"/>
              <a:t>有文字当然更好</a:t>
            </a:r>
            <a:endParaRPr lang="en-US" altLang="zh-CN" dirty="0"/>
          </a:p>
          <a:p>
            <a:pPr lvl="1"/>
            <a:r>
              <a:rPr lang="zh-CN" altLang="en-US" dirty="0"/>
              <a:t>没有也可以</a:t>
            </a:r>
            <a:r>
              <a:rPr lang="zh-CN" altLang="en-US" strike="sngStrike" dirty="0"/>
              <a:t>靠猜</a:t>
            </a:r>
            <a:r>
              <a:rPr lang="zh-CN" altLang="en-US" dirty="0"/>
              <a:t>（分析研究）</a:t>
            </a:r>
          </a:p>
        </p:txBody>
      </p:sp>
      <p:pic>
        <p:nvPicPr>
          <p:cNvPr id="2" name="图片 1">
            <a:extLst>
              <a:ext uri="{FF2B5EF4-FFF2-40B4-BE49-F238E27FC236}">
                <a16:creationId xmlns:a16="http://schemas.microsoft.com/office/drawing/2014/main" id="{D138557B-0F72-A389-98F9-6CB234240D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Tree>
    <p:extLst>
      <p:ext uri="{BB962C8B-B14F-4D97-AF65-F5344CB8AC3E}">
        <p14:creationId xmlns:p14="http://schemas.microsoft.com/office/powerpoint/2010/main" val="1818670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284D2CF-EAA3-A540-2CF9-897A09452DF8}"/>
              </a:ext>
            </a:extLst>
          </p:cNvPr>
          <p:cNvSpPr>
            <a:spLocks noGrp="1"/>
          </p:cNvSpPr>
          <p:nvPr>
            <p:ph idx="1"/>
          </p:nvPr>
        </p:nvSpPr>
        <p:spPr>
          <a:xfrm>
            <a:off x="838200" y="1825625"/>
            <a:ext cx="3699933" cy="4351338"/>
          </a:xfrm>
        </p:spPr>
        <p:txBody>
          <a:bodyPr/>
          <a:lstStyle/>
          <a:p>
            <a:r>
              <a:rPr lang="zh-CN" altLang="en-US" dirty="0"/>
              <a:t>发掘现象</a:t>
            </a:r>
            <a:endParaRPr lang="en-US" altLang="zh-CN" dirty="0"/>
          </a:p>
          <a:p>
            <a:r>
              <a:rPr lang="zh-CN" altLang="en-US" dirty="0"/>
              <a:t>梳理脉络</a:t>
            </a:r>
            <a:endParaRPr lang="en-US" altLang="zh-CN" dirty="0"/>
          </a:p>
          <a:p>
            <a:r>
              <a:rPr lang="zh-CN" altLang="en-US" dirty="0"/>
              <a:t>寻找根源</a:t>
            </a:r>
            <a:endParaRPr lang="en-US" altLang="zh-CN" dirty="0"/>
          </a:p>
          <a:p>
            <a:r>
              <a:rPr lang="zh-CN" altLang="en-US" dirty="0"/>
              <a:t>分析差异</a:t>
            </a:r>
            <a:endParaRPr lang="en-US" altLang="zh-CN" dirty="0"/>
          </a:p>
          <a:p>
            <a:r>
              <a:rPr lang="zh-CN" altLang="en-US" dirty="0"/>
              <a:t>解释变化</a:t>
            </a:r>
          </a:p>
        </p:txBody>
      </p:sp>
      <p:sp>
        <p:nvSpPr>
          <p:cNvPr id="4" name="标题 3">
            <a:extLst>
              <a:ext uri="{FF2B5EF4-FFF2-40B4-BE49-F238E27FC236}">
                <a16:creationId xmlns:a16="http://schemas.microsoft.com/office/drawing/2014/main" id="{90BF669D-C3AE-1D97-1932-0BEBE2F870FC}"/>
              </a:ext>
            </a:extLst>
          </p:cNvPr>
          <p:cNvSpPr txBox="1">
            <a:spLocks/>
          </p:cNvSpPr>
          <p:nvPr/>
        </p:nvSpPr>
        <p:spPr>
          <a:xfrm>
            <a:off x="979996" y="419101"/>
            <a:ext cx="6089397" cy="98018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800" dirty="0">
                <a:solidFill>
                  <a:srgbClr val="0C5D60"/>
                </a:solidFill>
                <a:latin typeface="YouSheBiaoTiYuan" panose="00000500000000000000" pitchFamily="50" charset="-122"/>
                <a:ea typeface="YouSheBiaoTiYuan" panose="00000500000000000000" pitchFamily="50" charset="-122"/>
              </a:rPr>
              <a:t>我们怎么研究开源文化？</a:t>
            </a:r>
          </a:p>
        </p:txBody>
      </p:sp>
      <p:sp>
        <p:nvSpPr>
          <p:cNvPr id="2" name="箭头: 右 1">
            <a:extLst>
              <a:ext uri="{FF2B5EF4-FFF2-40B4-BE49-F238E27FC236}">
                <a16:creationId xmlns:a16="http://schemas.microsoft.com/office/drawing/2014/main" id="{987CE185-0B14-EE3A-EDAE-0B6D9C36A711}"/>
              </a:ext>
            </a:extLst>
          </p:cNvPr>
          <p:cNvSpPr/>
          <p:nvPr/>
        </p:nvSpPr>
        <p:spPr>
          <a:xfrm>
            <a:off x="5012266" y="2963333"/>
            <a:ext cx="1337733" cy="4656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1E1F4B-DB12-1B9A-AEF0-7C0B49248209}"/>
              </a:ext>
            </a:extLst>
          </p:cNvPr>
          <p:cNvSpPr txBox="1"/>
          <p:nvPr/>
        </p:nvSpPr>
        <p:spPr>
          <a:xfrm>
            <a:off x="6891867" y="2734501"/>
            <a:ext cx="4648200" cy="923330"/>
          </a:xfrm>
          <a:prstGeom prst="rect">
            <a:avLst/>
          </a:prstGeom>
          <a:noFill/>
        </p:spPr>
        <p:txBody>
          <a:bodyPr wrap="square" rtlCol="0">
            <a:spAutoFit/>
          </a:bodyPr>
          <a:lstStyle/>
          <a:p>
            <a:r>
              <a:rPr lang="zh-CN" altLang="en-US" dirty="0"/>
              <a:t>人们赞同什么？</a:t>
            </a:r>
            <a:endParaRPr lang="en-US" altLang="zh-CN" dirty="0"/>
          </a:p>
          <a:p>
            <a:r>
              <a:rPr lang="zh-CN" altLang="en-US" dirty="0"/>
              <a:t>人们反对什么？</a:t>
            </a:r>
            <a:endParaRPr lang="en-US" altLang="zh-CN" dirty="0"/>
          </a:p>
          <a:p>
            <a:r>
              <a:rPr lang="zh-CN" altLang="en-US" dirty="0"/>
              <a:t>人们在追求什么？</a:t>
            </a:r>
          </a:p>
        </p:txBody>
      </p:sp>
      <p:pic>
        <p:nvPicPr>
          <p:cNvPr id="6" name="图片 5">
            <a:extLst>
              <a:ext uri="{FF2B5EF4-FFF2-40B4-BE49-F238E27FC236}">
                <a16:creationId xmlns:a16="http://schemas.microsoft.com/office/drawing/2014/main" id="{F85A9B7F-D2D8-16C4-0136-0924533819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Tree>
    <p:extLst>
      <p:ext uri="{BB962C8B-B14F-4D97-AF65-F5344CB8AC3E}">
        <p14:creationId xmlns:p14="http://schemas.microsoft.com/office/powerpoint/2010/main" val="862479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1DA74339-F46A-C82F-5273-6AB3911850B0}"/>
              </a:ext>
            </a:extLst>
          </p:cNvPr>
          <p:cNvSpPr txBox="1"/>
          <p:nvPr/>
        </p:nvSpPr>
        <p:spPr>
          <a:xfrm>
            <a:off x="3736062" y="6219374"/>
            <a:ext cx="2514600" cy="276999"/>
          </a:xfrm>
          <a:prstGeom prst="rect">
            <a:avLst/>
          </a:prstGeom>
          <a:noFill/>
        </p:spPr>
        <p:txBody>
          <a:bodyPr wrap="square" rtlCol="0">
            <a:spAutoFit/>
          </a:bodyPr>
          <a:lstStyle/>
          <a:p>
            <a:pPr algn="ctr"/>
            <a:r>
              <a:rPr lang="en-US" altLang="zh-CN" sz="1200" dirty="0">
                <a:solidFill>
                  <a:srgbClr val="00A99D"/>
                </a:solidFill>
                <a:latin typeface="思源黑体 CN Bold" panose="020B0800000000000000" pitchFamily="34" charset="-122"/>
                <a:ea typeface="思源黑体 CN Bold" panose="020B0800000000000000" pitchFamily="34" charset="-122"/>
              </a:rPr>
              <a:t>2022 </a:t>
            </a:r>
            <a:r>
              <a:rPr lang="zh-CN" altLang="en-US" sz="1200" dirty="0">
                <a:solidFill>
                  <a:srgbClr val="00A99D"/>
                </a:solidFill>
                <a:latin typeface="思源黑体 CN Bold" panose="020B0800000000000000" pitchFamily="34" charset="-122"/>
                <a:ea typeface="思源黑体 CN Bold" panose="020B0800000000000000" pitchFamily="34" charset="-122"/>
              </a:rPr>
              <a:t>第七届中国开源年会</a:t>
            </a:r>
          </a:p>
        </p:txBody>
      </p:sp>
      <p:sp>
        <p:nvSpPr>
          <p:cNvPr id="7" name="文本框 6">
            <a:extLst>
              <a:ext uri="{FF2B5EF4-FFF2-40B4-BE49-F238E27FC236}">
                <a16:creationId xmlns:a16="http://schemas.microsoft.com/office/drawing/2014/main" id="{33855C7E-8DDB-ED8C-19BF-2D5476B33B9F}"/>
              </a:ext>
            </a:extLst>
          </p:cNvPr>
          <p:cNvSpPr txBox="1"/>
          <p:nvPr/>
        </p:nvSpPr>
        <p:spPr>
          <a:xfrm>
            <a:off x="6096000" y="6210662"/>
            <a:ext cx="2205275" cy="276999"/>
          </a:xfrm>
          <a:prstGeom prst="rect">
            <a:avLst/>
          </a:prstGeom>
          <a:noFill/>
        </p:spPr>
        <p:txBody>
          <a:bodyPr wrap="square" rtlCol="0">
            <a:spAutoFit/>
          </a:bodyPr>
          <a:lstStyle/>
          <a:p>
            <a:pPr algn="ctr"/>
            <a:r>
              <a:rPr lang="en-US" altLang="zh-CN" sz="1200" dirty="0">
                <a:solidFill>
                  <a:srgbClr val="00A99D"/>
                </a:solidFill>
                <a:latin typeface="思源黑体 CN Bold" panose="020B0800000000000000" pitchFamily="34" charset="-122"/>
                <a:ea typeface="思源黑体 CN Bold" panose="020B0800000000000000" pitchFamily="34" charset="-122"/>
              </a:rPr>
              <a:t>OPEN THE WORLD</a:t>
            </a:r>
            <a:endParaRPr lang="zh-CN" altLang="en-US" sz="1200" dirty="0">
              <a:solidFill>
                <a:srgbClr val="00A99D"/>
              </a:solidFill>
              <a:latin typeface="思源黑体 CN Bold" panose="020B0800000000000000" pitchFamily="34" charset="-122"/>
              <a:ea typeface="思源黑体 CN Bold" panose="020B0800000000000000" pitchFamily="34" charset="-122"/>
            </a:endParaRPr>
          </a:p>
        </p:txBody>
      </p:sp>
      <p:pic>
        <p:nvPicPr>
          <p:cNvPr id="31" name="图片 30">
            <a:extLst>
              <a:ext uri="{FF2B5EF4-FFF2-40B4-BE49-F238E27FC236}">
                <a16:creationId xmlns:a16="http://schemas.microsoft.com/office/drawing/2014/main" id="{9B01581B-AEE0-812A-572E-DC021EB92F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pic>
        <p:nvPicPr>
          <p:cNvPr id="8" name="图片 7">
            <a:extLst>
              <a:ext uri="{FF2B5EF4-FFF2-40B4-BE49-F238E27FC236}">
                <a16:creationId xmlns:a16="http://schemas.microsoft.com/office/drawing/2014/main" id="{E0F02F53-2936-3BE6-F882-79822167F3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
        <p:nvSpPr>
          <p:cNvPr id="4" name="标题 3">
            <a:extLst>
              <a:ext uri="{FF2B5EF4-FFF2-40B4-BE49-F238E27FC236}">
                <a16:creationId xmlns:a16="http://schemas.microsoft.com/office/drawing/2014/main" id="{C70F515E-7342-6DC7-FB21-D262B46FEF7B}"/>
              </a:ext>
            </a:extLst>
          </p:cNvPr>
          <p:cNvSpPr txBox="1">
            <a:spLocks/>
          </p:cNvSpPr>
          <p:nvPr/>
        </p:nvSpPr>
        <p:spPr>
          <a:xfrm>
            <a:off x="979997" y="419101"/>
            <a:ext cx="3459268" cy="9801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800" dirty="0">
                <a:solidFill>
                  <a:srgbClr val="0C5D60"/>
                </a:solidFill>
                <a:latin typeface="YouSheBiaoTiYuan" panose="00000500000000000000" pitchFamily="50" charset="-122"/>
                <a:ea typeface="YouSheBiaoTiYuan" panose="00000500000000000000" pitchFamily="50" charset="-122"/>
              </a:rPr>
              <a:t>黑客文化</a:t>
            </a:r>
          </a:p>
        </p:txBody>
      </p:sp>
      <p:sp>
        <p:nvSpPr>
          <p:cNvPr id="3" name="内容占位符 2">
            <a:extLst>
              <a:ext uri="{FF2B5EF4-FFF2-40B4-BE49-F238E27FC236}">
                <a16:creationId xmlns:a16="http://schemas.microsoft.com/office/drawing/2014/main" id="{24212509-1630-BB36-F1C3-0B1D94E4F7EF}"/>
              </a:ext>
            </a:extLst>
          </p:cNvPr>
          <p:cNvSpPr>
            <a:spLocks noGrp="1"/>
          </p:cNvSpPr>
          <p:nvPr>
            <p:ph idx="1"/>
          </p:nvPr>
        </p:nvSpPr>
        <p:spPr>
          <a:xfrm>
            <a:off x="838201" y="1825625"/>
            <a:ext cx="7003026" cy="4351338"/>
          </a:xfrm>
        </p:spPr>
        <p:txBody>
          <a:bodyPr/>
          <a:lstStyle/>
          <a:p>
            <a:r>
              <a:rPr lang="zh-CN" altLang="en-US" dirty="0"/>
              <a:t>黑客伦理（</a:t>
            </a:r>
            <a:r>
              <a:rPr lang="en-US" altLang="zh-CN" dirty="0"/>
              <a:t>hacker ethic</a:t>
            </a:r>
            <a:r>
              <a:rPr lang="zh-CN" altLang="en-US" dirty="0"/>
              <a:t>）</a:t>
            </a:r>
            <a:endParaRPr lang="en-US" altLang="zh-CN" dirty="0"/>
          </a:p>
          <a:p>
            <a:pPr lvl="1"/>
            <a:r>
              <a:rPr lang="zh-CN" altLang="en-US" dirty="0"/>
              <a:t>使用计算机以及所有有助于了解这个世界本质的事物都不应受到任何限制。任何事情都应该亲手尝试</a:t>
            </a:r>
            <a:endParaRPr lang="en-US" altLang="zh-CN" dirty="0"/>
          </a:p>
          <a:p>
            <a:pPr lvl="1"/>
            <a:r>
              <a:rPr lang="zh-CN" altLang="en-US" dirty="0"/>
              <a:t>信息应该全部免费</a:t>
            </a:r>
            <a:endParaRPr lang="en-US" altLang="zh-CN" dirty="0"/>
          </a:p>
          <a:p>
            <a:pPr lvl="1"/>
            <a:r>
              <a:rPr lang="zh-CN" altLang="en-US" dirty="0"/>
              <a:t>不信任权威，提倡去中心化</a:t>
            </a:r>
            <a:endParaRPr lang="en-US" altLang="zh-CN" dirty="0"/>
          </a:p>
          <a:p>
            <a:pPr lvl="1"/>
            <a:r>
              <a:rPr lang="zh-CN" altLang="en-US" dirty="0"/>
              <a:t>判断一名黑客的水平应该看他的技术能力，而不是看他的学历、年龄或地位等其他标准</a:t>
            </a:r>
            <a:endParaRPr lang="en-US" altLang="zh-CN" dirty="0"/>
          </a:p>
          <a:p>
            <a:pPr lvl="1"/>
            <a:r>
              <a:rPr lang="zh-CN" altLang="en-US" dirty="0"/>
              <a:t>你可以用计算机创造美和艺术</a:t>
            </a:r>
            <a:endParaRPr lang="en-US" altLang="zh-CN" dirty="0"/>
          </a:p>
          <a:p>
            <a:pPr lvl="1"/>
            <a:r>
              <a:rPr lang="zh-CN" altLang="en-US" dirty="0"/>
              <a:t>计算机使生活更美好</a:t>
            </a:r>
          </a:p>
        </p:txBody>
      </p:sp>
      <p:pic>
        <p:nvPicPr>
          <p:cNvPr id="3074" name="Picture 2">
            <a:extLst>
              <a:ext uri="{FF2B5EF4-FFF2-40B4-BE49-F238E27FC236}">
                <a16:creationId xmlns:a16="http://schemas.microsoft.com/office/drawing/2014/main" id="{1FF23B2D-880D-B1A6-45EC-BD08781355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55298" y="1399282"/>
            <a:ext cx="1619267" cy="234189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611A2BD0-211C-CCA6-A470-AC621FCF81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55298" y="3835505"/>
            <a:ext cx="1619267" cy="227312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黑客伦理与信息时代精神_百度百科">
            <a:extLst>
              <a:ext uri="{FF2B5EF4-FFF2-40B4-BE49-F238E27FC236}">
                <a16:creationId xmlns:a16="http://schemas.microsoft.com/office/drawing/2014/main" id="{8D5F3199-AB33-4762-4786-E3FD66CBE9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33423" y="1399282"/>
            <a:ext cx="1642820" cy="234189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0DCE7C25-6A57-5EFC-701E-63510E9CB5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33422" y="3908322"/>
            <a:ext cx="1642819" cy="2206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550004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5F8B5F6-086B-C28D-FE25-2CA30477E77E}"/>
              </a:ext>
            </a:extLst>
          </p:cNvPr>
          <p:cNvSpPr>
            <a:spLocks noGrp="1"/>
          </p:cNvSpPr>
          <p:nvPr>
            <p:ph idx="1"/>
          </p:nvPr>
        </p:nvSpPr>
        <p:spPr>
          <a:xfrm>
            <a:off x="838200" y="1825625"/>
            <a:ext cx="6845710" cy="4351338"/>
          </a:xfrm>
        </p:spPr>
        <p:txBody>
          <a:bodyPr/>
          <a:lstStyle/>
          <a:p>
            <a:r>
              <a:rPr lang="zh-CN" altLang="en-US" dirty="0"/>
              <a:t>追求自由</a:t>
            </a:r>
            <a:endParaRPr lang="en-US" altLang="zh-CN" dirty="0"/>
          </a:p>
          <a:p>
            <a:r>
              <a:rPr lang="zh-CN" altLang="en-US" dirty="0"/>
              <a:t>礼物文化</a:t>
            </a:r>
            <a:endParaRPr lang="en-US" altLang="zh-CN" dirty="0"/>
          </a:p>
          <a:p>
            <a:r>
              <a:rPr lang="en-US" altLang="zh-CN" dirty="0"/>
              <a:t>Just for Fun</a:t>
            </a:r>
            <a:endParaRPr lang="zh-CN" altLang="en-US" dirty="0"/>
          </a:p>
        </p:txBody>
      </p:sp>
      <p:sp>
        <p:nvSpPr>
          <p:cNvPr id="4" name="标题 3">
            <a:extLst>
              <a:ext uri="{FF2B5EF4-FFF2-40B4-BE49-F238E27FC236}">
                <a16:creationId xmlns:a16="http://schemas.microsoft.com/office/drawing/2014/main" id="{6A586B7C-9938-A15D-7650-53FBBDCEF7EC}"/>
              </a:ext>
            </a:extLst>
          </p:cNvPr>
          <p:cNvSpPr txBox="1">
            <a:spLocks/>
          </p:cNvSpPr>
          <p:nvPr/>
        </p:nvSpPr>
        <p:spPr>
          <a:xfrm>
            <a:off x="979996" y="419101"/>
            <a:ext cx="9073487" cy="9801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800" dirty="0">
                <a:solidFill>
                  <a:srgbClr val="0C5D60"/>
                </a:solidFill>
                <a:latin typeface="YouSheBiaoTiYuan" panose="00000500000000000000" pitchFamily="50" charset="-122"/>
                <a:ea typeface="YouSheBiaoTiYuan" panose="00000500000000000000" pitchFamily="50" charset="-122"/>
              </a:rPr>
              <a:t>自由与开源软件运动</a:t>
            </a:r>
          </a:p>
        </p:txBody>
      </p:sp>
      <p:pic>
        <p:nvPicPr>
          <p:cNvPr id="6146" name="Picture 2">
            <a:extLst>
              <a:ext uri="{FF2B5EF4-FFF2-40B4-BE49-F238E27FC236}">
                <a16:creationId xmlns:a16="http://schemas.microsoft.com/office/drawing/2014/main" id="{54EDB0CE-6DF6-C9E3-1F7F-56636E1673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5037" y="1351935"/>
            <a:ext cx="1691094" cy="2448233"/>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CEC863C2-9D98-D493-727B-C810B50E12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pic>
        <p:nvPicPr>
          <p:cNvPr id="6148" name="Picture 4">
            <a:extLst>
              <a:ext uri="{FF2B5EF4-FFF2-40B4-BE49-F238E27FC236}">
                <a16:creationId xmlns:a16="http://schemas.microsoft.com/office/drawing/2014/main" id="{08CE3886-82DB-7CBA-7A29-BBDE1537FA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56572" y="3943043"/>
            <a:ext cx="1564513" cy="230044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57798CA4-20D6-DC39-BF69-578A35C1C7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25038" y="3954049"/>
            <a:ext cx="1692168" cy="2289435"/>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E9CAA0A4-FAD1-5386-6760-AC1A9634E1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56572" y="1351935"/>
            <a:ext cx="1613787" cy="2448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569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A2AB8BD-896C-3BDF-32E7-17A01141B2FE}"/>
              </a:ext>
            </a:extLst>
          </p:cNvPr>
          <p:cNvSpPr txBox="1">
            <a:spLocks/>
          </p:cNvSpPr>
          <p:nvPr/>
        </p:nvSpPr>
        <p:spPr>
          <a:xfrm>
            <a:off x="979996" y="419101"/>
            <a:ext cx="6089397" cy="9801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800" dirty="0">
                <a:solidFill>
                  <a:srgbClr val="0C5D60"/>
                </a:solidFill>
                <a:latin typeface="YouSheBiaoTiYuan" panose="00000500000000000000" pitchFamily="50" charset="-122"/>
                <a:ea typeface="YouSheBiaoTiYuan" panose="00000500000000000000" pitchFamily="50" charset="-122"/>
              </a:rPr>
              <a:t>第一条线索</a:t>
            </a:r>
          </a:p>
        </p:txBody>
      </p:sp>
      <p:sp>
        <p:nvSpPr>
          <p:cNvPr id="2" name="内容占位符 2">
            <a:extLst>
              <a:ext uri="{FF2B5EF4-FFF2-40B4-BE49-F238E27FC236}">
                <a16:creationId xmlns:a16="http://schemas.microsoft.com/office/drawing/2014/main" id="{D57BC205-7AE5-7C69-154E-82B7DA7B408D}"/>
              </a:ext>
            </a:extLst>
          </p:cNvPr>
          <p:cNvSpPr>
            <a:spLocks noGrp="1"/>
          </p:cNvSpPr>
          <p:nvPr>
            <p:ph idx="1"/>
          </p:nvPr>
        </p:nvSpPr>
        <p:spPr>
          <a:xfrm>
            <a:off x="838200" y="1825625"/>
            <a:ext cx="10515600" cy="4351338"/>
          </a:xfrm>
        </p:spPr>
        <p:txBody>
          <a:bodyPr/>
          <a:lstStyle/>
          <a:p>
            <a:r>
              <a:rPr lang="zh-CN" altLang="en-US" dirty="0"/>
              <a:t>黑客伦理起源于</a:t>
            </a:r>
            <a:r>
              <a:rPr lang="en-US" altLang="zh-CN" dirty="0"/>
              <a:t>20</a:t>
            </a:r>
            <a:r>
              <a:rPr lang="zh-CN" altLang="en-US" dirty="0"/>
              <a:t>世纪</a:t>
            </a:r>
            <a:r>
              <a:rPr lang="en-US" altLang="zh-CN" dirty="0"/>
              <a:t>60</a:t>
            </a:r>
            <a:r>
              <a:rPr lang="zh-CN" altLang="en-US" dirty="0"/>
              <a:t>年代的麻省理工学院。</a:t>
            </a:r>
            <a:endParaRPr lang="en-US" altLang="zh-CN" dirty="0"/>
          </a:p>
          <a:p>
            <a:pPr lvl="1"/>
            <a:r>
              <a:rPr lang="en-US" altLang="zh-CN" dirty="0"/>
              <a:t>1961 </a:t>
            </a:r>
            <a:r>
              <a:rPr lang="zh-CN" altLang="en-US" dirty="0"/>
              <a:t>年 </a:t>
            </a:r>
            <a:r>
              <a:rPr lang="en-US" altLang="zh-CN" dirty="0"/>
              <a:t>MIT </a:t>
            </a:r>
            <a:r>
              <a:rPr lang="zh-CN" altLang="en-US" dirty="0"/>
              <a:t>出现第一台电脑 </a:t>
            </a:r>
            <a:r>
              <a:rPr lang="en-US" altLang="zh-CN" dirty="0"/>
              <a:t>DEC PDP-1</a:t>
            </a:r>
            <a:r>
              <a:rPr lang="zh-CN" altLang="en-US" dirty="0"/>
              <a:t>。 </a:t>
            </a:r>
            <a:r>
              <a:rPr lang="en-US" altLang="zh-CN" dirty="0"/>
              <a:t>MIT </a:t>
            </a:r>
            <a:r>
              <a:rPr lang="zh-CN" altLang="en-US" dirty="0"/>
              <a:t>的 </a:t>
            </a:r>
            <a:r>
              <a:rPr lang="en-US" altLang="zh-CN" dirty="0"/>
              <a:t>Tech Model Railroad Club(</a:t>
            </a:r>
            <a:r>
              <a:rPr lang="zh-CN" altLang="en-US" dirty="0"/>
              <a:t>简称 </a:t>
            </a:r>
            <a:r>
              <a:rPr lang="en-US" altLang="zh-CN" dirty="0"/>
              <a:t>TMRC) </a:t>
            </a:r>
            <a:r>
              <a:rPr lang="zh-CN" altLang="en-US" dirty="0"/>
              <a:t>的 </a:t>
            </a:r>
            <a:r>
              <a:rPr lang="en-US" altLang="zh-CN" dirty="0"/>
              <a:t>Power and Signals Group</a:t>
            </a:r>
            <a:r>
              <a:rPr lang="zh-CN" altLang="en-US" dirty="0"/>
              <a:t>买了这台机器后</a:t>
            </a:r>
            <a:r>
              <a:rPr lang="en-US" altLang="zh-CN" dirty="0"/>
              <a:t>, </a:t>
            </a:r>
            <a:r>
              <a:rPr lang="zh-CN" altLang="en-US" dirty="0"/>
              <a:t>把它当成最时髦的科技玩具</a:t>
            </a:r>
            <a:r>
              <a:rPr lang="en-US" altLang="zh-CN" dirty="0"/>
              <a:t>, </a:t>
            </a:r>
            <a:r>
              <a:rPr lang="zh-CN" altLang="en-US" dirty="0"/>
              <a:t>各种程序工具与电脑术语开始出现</a:t>
            </a:r>
            <a:r>
              <a:rPr lang="en-US" altLang="zh-CN" dirty="0"/>
              <a:t>, </a:t>
            </a:r>
            <a:r>
              <a:rPr lang="zh-CN" altLang="en-US" dirty="0"/>
              <a:t>整个环境与文化一直发展下去至今日。</a:t>
            </a:r>
            <a:r>
              <a:rPr lang="en-US" altLang="zh-CN" b="1" dirty="0">
                <a:solidFill>
                  <a:schemeClr val="accent1"/>
                </a:solidFill>
              </a:rPr>
              <a:t>——《</a:t>
            </a:r>
            <a:r>
              <a:rPr lang="zh-CN" altLang="en-US" b="1" dirty="0">
                <a:solidFill>
                  <a:schemeClr val="accent1"/>
                </a:solidFill>
              </a:rPr>
              <a:t>黑客文化简史</a:t>
            </a:r>
            <a:r>
              <a:rPr lang="en-US" altLang="zh-CN" b="1" dirty="0">
                <a:solidFill>
                  <a:schemeClr val="accent1"/>
                </a:solidFill>
              </a:rPr>
              <a:t>》</a:t>
            </a:r>
          </a:p>
          <a:p>
            <a:pPr lvl="1"/>
            <a:r>
              <a:rPr lang="zh-CN" altLang="en-US" dirty="0"/>
              <a:t>在美国，“新左派”泛指</a:t>
            </a:r>
            <a:r>
              <a:rPr lang="en-US" altLang="zh-CN" dirty="0"/>
              <a:t>1960</a:t>
            </a:r>
            <a:r>
              <a:rPr lang="zh-CN" altLang="en-US" dirty="0"/>
              <a:t>年代反文化运动时期的左翼激进政治运动，主体为大学生。</a:t>
            </a:r>
            <a:r>
              <a:rPr lang="en-US" altLang="zh-CN" b="1" dirty="0">
                <a:solidFill>
                  <a:schemeClr val="accent1"/>
                </a:solidFill>
              </a:rPr>
              <a:t>——《</a:t>
            </a:r>
            <a:r>
              <a:rPr lang="zh-CN" altLang="en-US" b="1" dirty="0">
                <a:solidFill>
                  <a:schemeClr val="accent1"/>
                </a:solidFill>
              </a:rPr>
              <a:t>维基百科：新左派</a:t>
            </a:r>
            <a:r>
              <a:rPr lang="en-US" altLang="zh-CN" b="1" dirty="0">
                <a:solidFill>
                  <a:schemeClr val="accent1"/>
                </a:solidFill>
              </a:rPr>
              <a:t>》</a:t>
            </a:r>
          </a:p>
          <a:p>
            <a:r>
              <a:rPr lang="zh-CN" altLang="en-US" dirty="0"/>
              <a:t>关键词：技术、反叛、自我中心</a:t>
            </a:r>
          </a:p>
        </p:txBody>
      </p:sp>
      <p:pic>
        <p:nvPicPr>
          <p:cNvPr id="3" name="图片 2">
            <a:extLst>
              <a:ext uri="{FF2B5EF4-FFF2-40B4-BE49-F238E27FC236}">
                <a16:creationId xmlns:a16="http://schemas.microsoft.com/office/drawing/2014/main" id="{D92FD83F-8C00-8965-19E1-49932F901A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Tree>
    <p:extLst>
      <p:ext uri="{BB962C8B-B14F-4D97-AF65-F5344CB8AC3E}">
        <p14:creationId xmlns:p14="http://schemas.microsoft.com/office/powerpoint/2010/main" val="2338050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A2AB8BD-896C-3BDF-32E7-17A01141B2FE}"/>
              </a:ext>
            </a:extLst>
          </p:cNvPr>
          <p:cNvSpPr txBox="1">
            <a:spLocks/>
          </p:cNvSpPr>
          <p:nvPr/>
        </p:nvSpPr>
        <p:spPr>
          <a:xfrm>
            <a:off x="979996" y="419101"/>
            <a:ext cx="6089397" cy="9801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800" dirty="0">
                <a:solidFill>
                  <a:srgbClr val="0C5D60"/>
                </a:solidFill>
                <a:latin typeface="YouSheBiaoTiYuan" panose="00000500000000000000" pitchFamily="50" charset="-122"/>
                <a:ea typeface="YouSheBiaoTiYuan" panose="00000500000000000000" pitchFamily="50" charset="-122"/>
              </a:rPr>
              <a:t>商业文化？</a:t>
            </a:r>
          </a:p>
        </p:txBody>
      </p:sp>
      <p:sp>
        <p:nvSpPr>
          <p:cNvPr id="2" name="Rectangle 5">
            <a:extLst>
              <a:ext uri="{FF2B5EF4-FFF2-40B4-BE49-F238E27FC236}">
                <a16:creationId xmlns:a16="http://schemas.microsoft.com/office/drawing/2014/main" id="{A23E7EEF-8854-5CFF-90B9-C1BDC3319865}"/>
              </a:ext>
            </a:extLst>
          </p:cNvPr>
          <p:cNvSpPr/>
          <p:nvPr/>
        </p:nvSpPr>
        <p:spPr>
          <a:xfrm>
            <a:off x="938981" y="1624507"/>
            <a:ext cx="10805651" cy="4412499"/>
          </a:xfrm>
          <a:prstGeom prst="rect">
            <a:avLst/>
          </a:prstGeom>
          <a:noFill/>
          <a:ln w="635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40000"/>
              </a:lnSpc>
            </a:pPr>
            <a:r>
              <a:rPr lang="zh-CN" altLang="en-US" sz="4400" b="1" dirty="0">
                <a:solidFill>
                  <a:srgbClr val="0C5D60"/>
                </a:solidFill>
                <a:latin typeface="思源黑体 CN Bold" panose="020B0800000000000000" pitchFamily="34" charset="-122"/>
                <a:ea typeface="思源黑体 CN Bold" panose="020B0800000000000000" pitchFamily="34" charset="-122"/>
                <a:cs typeface="Microsoft YaHei" charset="0"/>
              </a:rPr>
              <a:t>这个应该是古已有之吧</a:t>
            </a:r>
            <a:endParaRPr lang="en-US" altLang="zh-CN" sz="4400" b="1" dirty="0">
              <a:solidFill>
                <a:srgbClr val="0C5D60"/>
              </a:solidFill>
              <a:latin typeface="思源黑体 CN Bold" panose="020B0800000000000000" pitchFamily="34" charset="-122"/>
              <a:ea typeface="思源黑体 CN Bold" panose="020B0800000000000000" pitchFamily="34" charset="-122"/>
              <a:cs typeface="Microsoft YaHei" charset="0"/>
            </a:endParaRPr>
          </a:p>
          <a:p>
            <a:pPr algn="ctr">
              <a:lnSpc>
                <a:spcPct val="140000"/>
              </a:lnSpc>
            </a:pPr>
            <a:endParaRPr lang="en-US" altLang="zh-CN" sz="4400" b="1" dirty="0">
              <a:solidFill>
                <a:srgbClr val="0C5D60"/>
              </a:solidFill>
              <a:latin typeface="思源黑体 CN Bold" panose="020B0800000000000000" pitchFamily="34" charset="-122"/>
              <a:ea typeface="思源黑体 CN Bold" panose="020B0800000000000000" pitchFamily="34" charset="-122"/>
              <a:cs typeface="Microsoft YaHei" charset="0"/>
            </a:endParaRPr>
          </a:p>
          <a:p>
            <a:pPr algn="ctr">
              <a:lnSpc>
                <a:spcPct val="140000"/>
              </a:lnSpc>
            </a:pPr>
            <a:r>
              <a:rPr lang="zh-CN" altLang="en-US" sz="4400" b="1" dirty="0">
                <a:solidFill>
                  <a:srgbClr val="0C5D60"/>
                </a:solidFill>
                <a:latin typeface="思源黑体 CN Bold" panose="020B0800000000000000" pitchFamily="34" charset="-122"/>
                <a:ea typeface="思源黑体 CN Bold" panose="020B0800000000000000" pitchFamily="34" charset="-122"/>
                <a:cs typeface="Microsoft YaHei" charset="0"/>
              </a:rPr>
              <a:t>在软件上，却未必</a:t>
            </a:r>
            <a:r>
              <a:rPr lang="en-US" altLang="zh-CN" sz="4400" b="1" dirty="0">
                <a:solidFill>
                  <a:srgbClr val="0C5D60"/>
                </a:solidFill>
                <a:latin typeface="思源黑体 CN Bold" panose="020B0800000000000000" pitchFamily="34" charset="-122"/>
                <a:ea typeface="思源黑体 CN Bold" panose="020B0800000000000000" pitchFamily="34" charset="-122"/>
                <a:cs typeface="Microsoft YaHei" charset="0"/>
              </a:rPr>
              <a:t>……</a:t>
            </a:r>
            <a:endParaRPr lang="zh-CN" altLang="en-US" sz="4400" b="1" dirty="0">
              <a:solidFill>
                <a:srgbClr val="0C5D60"/>
              </a:solidFill>
              <a:latin typeface="思源黑体 CN Bold" panose="020B0800000000000000" pitchFamily="34" charset="-122"/>
              <a:ea typeface="思源黑体 CN Bold" panose="020B0800000000000000" pitchFamily="34" charset="-122"/>
              <a:cs typeface="Microsoft YaHei" charset="0"/>
            </a:endParaRPr>
          </a:p>
        </p:txBody>
      </p:sp>
      <p:pic>
        <p:nvPicPr>
          <p:cNvPr id="3" name="图片 2">
            <a:extLst>
              <a:ext uri="{FF2B5EF4-FFF2-40B4-BE49-F238E27FC236}">
                <a16:creationId xmlns:a16="http://schemas.microsoft.com/office/drawing/2014/main" id="{EB897301-73DE-A03E-E174-E5845DC1EE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Tree>
    <p:extLst>
      <p:ext uri="{BB962C8B-B14F-4D97-AF65-F5344CB8AC3E}">
        <p14:creationId xmlns:p14="http://schemas.microsoft.com/office/powerpoint/2010/main" val="355834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randombar(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1DA74339-F46A-C82F-5273-6AB3911850B0}"/>
              </a:ext>
            </a:extLst>
          </p:cNvPr>
          <p:cNvSpPr txBox="1"/>
          <p:nvPr/>
        </p:nvSpPr>
        <p:spPr>
          <a:xfrm>
            <a:off x="3736062" y="6219374"/>
            <a:ext cx="2514600" cy="276999"/>
          </a:xfrm>
          <a:prstGeom prst="rect">
            <a:avLst/>
          </a:prstGeom>
          <a:noFill/>
        </p:spPr>
        <p:txBody>
          <a:bodyPr wrap="square" rtlCol="0">
            <a:spAutoFit/>
          </a:bodyPr>
          <a:lstStyle/>
          <a:p>
            <a:pPr algn="ctr"/>
            <a:r>
              <a:rPr lang="en-US" altLang="zh-CN" sz="1200" dirty="0">
                <a:solidFill>
                  <a:srgbClr val="00A99D"/>
                </a:solidFill>
                <a:latin typeface="思源黑体 CN Bold" panose="020B0800000000000000" pitchFamily="34" charset="-122"/>
                <a:ea typeface="思源黑体 CN Bold" panose="020B0800000000000000" pitchFamily="34" charset="-122"/>
              </a:rPr>
              <a:t>2022 </a:t>
            </a:r>
            <a:r>
              <a:rPr lang="zh-CN" altLang="en-US" sz="1200" dirty="0">
                <a:solidFill>
                  <a:srgbClr val="00A99D"/>
                </a:solidFill>
                <a:latin typeface="思源黑体 CN Bold" panose="020B0800000000000000" pitchFamily="34" charset="-122"/>
                <a:ea typeface="思源黑体 CN Bold" panose="020B0800000000000000" pitchFamily="34" charset="-122"/>
              </a:rPr>
              <a:t>第七届中国开源年会</a:t>
            </a:r>
          </a:p>
        </p:txBody>
      </p:sp>
      <p:sp>
        <p:nvSpPr>
          <p:cNvPr id="7" name="文本框 6">
            <a:extLst>
              <a:ext uri="{FF2B5EF4-FFF2-40B4-BE49-F238E27FC236}">
                <a16:creationId xmlns:a16="http://schemas.microsoft.com/office/drawing/2014/main" id="{33855C7E-8DDB-ED8C-19BF-2D5476B33B9F}"/>
              </a:ext>
            </a:extLst>
          </p:cNvPr>
          <p:cNvSpPr txBox="1"/>
          <p:nvPr/>
        </p:nvSpPr>
        <p:spPr>
          <a:xfrm>
            <a:off x="6096000" y="6210662"/>
            <a:ext cx="2205275" cy="276999"/>
          </a:xfrm>
          <a:prstGeom prst="rect">
            <a:avLst/>
          </a:prstGeom>
          <a:noFill/>
        </p:spPr>
        <p:txBody>
          <a:bodyPr wrap="square" rtlCol="0">
            <a:spAutoFit/>
          </a:bodyPr>
          <a:lstStyle/>
          <a:p>
            <a:pPr algn="ctr"/>
            <a:r>
              <a:rPr lang="en-US" altLang="zh-CN" sz="1200" dirty="0">
                <a:solidFill>
                  <a:srgbClr val="00A99D"/>
                </a:solidFill>
                <a:latin typeface="思源黑体 CN Bold" panose="020B0800000000000000" pitchFamily="34" charset="-122"/>
                <a:ea typeface="思源黑体 CN Bold" panose="020B0800000000000000" pitchFamily="34" charset="-122"/>
              </a:rPr>
              <a:t>OPEN THE WORLD</a:t>
            </a:r>
            <a:endParaRPr lang="zh-CN" altLang="en-US" sz="1200" dirty="0">
              <a:solidFill>
                <a:srgbClr val="00A99D"/>
              </a:solidFill>
              <a:latin typeface="思源黑体 CN Bold" panose="020B0800000000000000" pitchFamily="34" charset="-122"/>
              <a:ea typeface="思源黑体 CN Bold" panose="020B0800000000000000" pitchFamily="34" charset="-122"/>
            </a:endParaRPr>
          </a:p>
        </p:txBody>
      </p:sp>
      <p:pic>
        <p:nvPicPr>
          <p:cNvPr id="31" name="图片 30">
            <a:extLst>
              <a:ext uri="{FF2B5EF4-FFF2-40B4-BE49-F238E27FC236}">
                <a16:creationId xmlns:a16="http://schemas.microsoft.com/office/drawing/2014/main" id="{9B01581B-AEE0-812A-572E-DC021EB92F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pic>
        <p:nvPicPr>
          <p:cNvPr id="8" name="图片 7">
            <a:extLst>
              <a:ext uri="{FF2B5EF4-FFF2-40B4-BE49-F238E27FC236}">
                <a16:creationId xmlns:a16="http://schemas.microsoft.com/office/drawing/2014/main" id="{E0F02F53-2936-3BE6-F882-79822167F3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
        <p:nvSpPr>
          <p:cNvPr id="4" name="标题 3">
            <a:extLst>
              <a:ext uri="{FF2B5EF4-FFF2-40B4-BE49-F238E27FC236}">
                <a16:creationId xmlns:a16="http://schemas.microsoft.com/office/drawing/2014/main" id="{C70F515E-7342-6DC7-FB21-D262B46FEF7B}"/>
              </a:ext>
            </a:extLst>
          </p:cNvPr>
          <p:cNvSpPr txBox="1">
            <a:spLocks/>
          </p:cNvSpPr>
          <p:nvPr/>
        </p:nvSpPr>
        <p:spPr>
          <a:xfrm>
            <a:off x="979996" y="419101"/>
            <a:ext cx="5204493" cy="9801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800" dirty="0">
                <a:solidFill>
                  <a:srgbClr val="0C5D60"/>
                </a:solidFill>
                <a:latin typeface="YouSheBiaoTiYuan" panose="00000500000000000000" pitchFamily="50" charset="-122"/>
                <a:ea typeface="YouSheBiaoTiYuan" panose="00000500000000000000" pitchFamily="50" charset="-122"/>
              </a:rPr>
              <a:t>商业软件的兴起</a:t>
            </a:r>
          </a:p>
        </p:txBody>
      </p:sp>
      <p:sp>
        <p:nvSpPr>
          <p:cNvPr id="3" name="内容占位符 2">
            <a:extLst>
              <a:ext uri="{FF2B5EF4-FFF2-40B4-BE49-F238E27FC236}">
                <a16:creationId xmlns:a16="http://schemas.microsoft.com/office/drawing/2014/main" id="{24212509-1630-BB36-F1C3-0B1D94E4F7EF}"/>
              </a:ext>
            </a:extLst>
          </p:cNvPr>
          <p:cNvSpPr>
            <a:spLocks noGrp="1"/>
          </p:cNvSpPr>
          <p:nvPr>
            <p:ph idx="1"/>
          </p:nvPr>
        </p:nvSpPr>
        <p:spPr>
          <a:xfrm>
            <a:off x="838201" y="1825625"/>
            <a:ext cx="6727722" cy="4351338"/>
          </a:xfrm>
        </p:spPr>
        <p:txBody>
          <a:bodyPr/>
          <a:lstStyle/>
          <a:p>
            <a:r>
              <a:rPr lang="en-US" altLang="zh-CN" dirty="0"/>
              <a:t>1976</a:t>
            </a:r>
            <a:r>
              <a:rPr lang="zh-CN" altLang="en-US" dirty="0"/>
              <a:t>年</a:t>
            </a:r>
            <a:r>
              <a:rPr lang="en-US" altLang="zh-CN" dirty="0"/>
              <a:t>2</a:t>
            </a:r>
            <a:r>
              <a:rPr lang="zh-CN" altLang="en-US" dirty="0"/>
              <a:t>月</a:t>
            </a:r>
            <a:r>
              <a:rPr lang="en-US" altLang="zh-CN" dirty="0"/>
              <a:t>3</a:t>
            </a:r>
            <a:r>
              <a:rPr lang="zh-CN" altLang="en-US" dirty="0"/>
              <a:t>日，比尔</a:t>
            </a:r>
            <a:r>
              <a:rPr lang="en-US" altLang="zh-CN" dirty="0"/>
              <a:t>·</a:t>
            </a:r>
            <a:r>
              <a:rPr lang="zh-CN" altLang="en-US" dirty="0"/>
              <a:t>盖茨发表了一篇</a:t>
            </a:r>
            <a:r>
              <a:rPr lang="en-US" altLang="zh-CN" dirty="0"/>
              <a:t>《</a:t>
            </a:r>
            <a:r>
              <a:rPr lang="zh-CN" altLang="en-US" dirty="0"/>
              <a:t>致爱好者的公开信</a:t>
            </a:r>
            <a:r>
              <a:rPr lang="en-US" altLang="zh-CN" dirty="0"/>
              <a:t>》</a:t>
            </a:r>
          </a:p>
          <a:p>
            <a:r>
              <a:rPr lang="en-US" altLang="zh-CN" dirty="0"/>
              <a:t>1980</a:t>
            </a:r>
            <a:r>
              <a:rPr lang="zh-CN" altLang="en-US" dirty="0"/>
              <a:t>年</a:t>
            </a:r>
            <a:r>
              <a:rPr lang="en-US" altLang="zh-CN" dirty="0"/>
              <a:t>12</a:t>
            </a:r>
            <a:r>
              <a:rPr lang="zh-CN" altLang="en-US" dirty="0"/>
              <a:t>月，美国修订版权法，正式把计算机程序列入版权法保护范围</a:t>
            </a:r>
            <a:r>
              <a:rPr lang="en-US" altLang="zh-CN" dirty="0"/>
              <a:t>, </a:t>
            </a:r>
            <a:r>
              <a:rPr lang="zh-CN" altLang="en-US" dirty="0"/>
              <a:t>明确了对计算机软件的版权保护模式。</a:t>
            </a:r>
            <a:endParaRPr lang="en-US" altLang="zh-CN" dirty="0"/>
          </a:p>
          <a:p>
            <a:r>
              <a:rPr lang="zh-CN" altLang="en-US" dirty="0"/>
              <a:t>一大堆软件公司成立，软件纷纷闭源</a:t>
            </a:r>
            <a:endParaRPr lang="en-US" altLang="zh-CN" dirty="0"/>
          </a:p>
          <a:p>
            <a:pPr lvl="1"/>
            <a:r>
              <a:rPr lang="zh-CN" altLang="en-US" dirty="0"/>
              <a:t>尤其是</a:t>
            </a:r>
            <a:r>
              <a:rPr lang="en-US" altLang="zh-CN" dirty="0"/>
              <a:t>Richard Stallman</a:t>
            </a:r>
            <a:r>
              <a:rPr lang="zh-CN" altLang="en-US" dirty="0"/>
              <a:t>喜欢的</a:t>
            </a:r>
            <a:r>
              <a:rPr lang="en-US" altLang="zh-CN" dirty="0"/>
              <a:t>UNIX</a:t>
            </a:r>
          </a:p>
          <a:p>
            <a:pPr lvl="1"/>
            <a:r>
              <a:rPr lang="en-US" altLang="zh-CN" dirty="0"/>
              <a:t>1983</a:t>
            </a:r>
            <a:r>
              <a:rPr lang="zh-CN" altLang="en-US" dirty="0"/>
              <a:t>年，</a:t>
            </a:r>
            <a:r>
              <a:rPr lang="en-US" altLang="zh-CN" dirty="0"/>
              <a:t>RMS</a:t>
            </a:r>
            <a:r>
              <a:rPr lang="zh-CN" altLang="en-US" dirty="0"/>
              <a:t>发起了自由软件运动</a:t>
            </a:r>
          </a:p>
        </p:txBody>
      </p:sp>
      <p:pic>
        <p:nvPicPr>
          <p:cNvPr id="1026" name="Picture 2">
            <a:extLst>
              <a:ext uri="{FF2B5EF4-FFF2-40B4-BE49-F238E27FC236}">
                <a16:creationId xmlns:a16="http://schemas.microsoft.com/office/drawing/2014/main" id="{A01434EC-50CB-9AF7-4974-A6B37F67CB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1275" y="1691148"/>
            <a:ext cx="3412183" cy="4414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844006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E8D1ED-7666-5111-3783-14106638FA35}"/>
              </a:ext>
            </a:extLst>
          </p:cNvPr>
          <p:cNvSpPr>
            <a:spLocks noGrp="1"/>
          </p:cNvSpPr>
          <p:nvPr>
            <p:ph type="title"/>
          </p:nvPr>
        </p:nvSpPr>
        <p:spPr/>
        <p:txBody>
          <a:bodyPr/>
          <a:lstStyle/>
          <a:p>
            <a:r>
              <a:rPr lang="zh-CN" altLang="en-US" dirty="0"/>
              <a:t>围绕开源的商业文化</a:t>
            </a:r>
          </a:p>
        </p:txBody>
      </p:sp>
      <p:sp>
        <p:nvSpPr>
          <p:cNvPr id="3" name="内容占位符 2">
            <a:extLst>
              <a:ext uri="{FF2B5EF4-FFF2-40B4-BE49-F238E27FC236}">
                <a16:creationId xmlns:a16="http://schemas.microsoft.com/office/drawing/2014/main" id="{9CA9543B-3FCD-B97C-A33F-0D4287F50769}"/>
              </a:ext>
            </a:extLst>
          </p:cNvPr>
          <p:cNvSpPr>
            <a:spLocks noGrp="1"/>
          </p:cNvSpPr>
          <p:nvPr>
            <p:ph idx="1"/>
          </p:nvPr>
        </p:nvSpPr>
        <p:spPr/>
        <p:txBody>
          <a:bodyPr/>
          <a:lstStyle/>
          <a:p>
            <a:r>
              <a:rPr lang="zh-CN" altLang="en-US" dirty="0">
                <a:solidFill>
                  <a:srgbClr val="FF0000"/>
                </a:solidFill>
              </a:rPr>
              <a:t>因为开源很难赚钱</a:t>
            </a:r>
            <a:endParaRPr lang="en-US" altLang="zh-CN" dirty="0">
              <a:solidFill>
                <a:srgbClr val="FF0000"/>
              </a:solidFill>
            </a:endParaRPr>
          </a:p>
          <a:p>
            <a:r>
              <a:rPr lang="zh-CN" altLang="en-US" dirty="0"/>
              <a:t>所以开源的商业模式，就很模糊</a:t>
            </a:r>
            <a:endParaRPr lang="en-US" altLang="zh-CN" dirty="0"/>
          </a:p>
          <a:p>
            <a:r>
              <a:rPr lang="zh-CN" altLang="en-US" dirty="0"/>
              <a:t>所以只能换一个计算的方式</a:t>
            </a:r>
            <a:endParaRPr lang="en-US" altLang="zh-CN" dirty="0"/>
          </a:p>
          <a:p>
            <a:pPr lvl="1"/>
            <a:r>
              <a:rPr lang="en-US" altLang="zh-CN" dirty="0"/>
              <a:t>AAA </a:t>
            </a:r>
            <a:r>
              <a:rPr lang="zh-CN" altLang="en-US" dirty="0"/>
              <a:t>项目，拿到了一轮风险投资</a:t>
            </a:r>
            <a:endParaRPr lang="en-US" altLang="zh-CN" dirty="0"/>
          </a:p>
          <a:p>
            <a:pPr lvl="1"/>
            <a:r>
              <a:rPr lang="en-US" altLang="zh-CN" dirty="0"/>
              <a:t>BBB </a:t>
            </a:r>
            <a:r>
              <a:rPr lang="zh-CN" altLang="en-US" dirty="0"/>
              <a:t>项目在纳斯达克上市了</a:t>
            </a:r>
            <a:endParaRPr lang="en-US" altLang="zh-CN" dirty="0"/>
          </a:p>
          <a:p>
            <a:pPr lvl="1"/>
            <a:r>
              <a:rPr lang="en-US" altLang="zh-CN" dirty="0"/>
              <a:t>CCC </a:t>
            </a:r>
            <a:r>
              <a:rPr lang="zh-CN" altLang="en-US" dirty="0"/>
              <a:t>项目被大厂以</a:t>
            </a:r>
            <a:r>
              <a:rPr lang="en-US" altLang="zh-CN" dirty="0"/>
              <a:t>XXX</a:t>
            </a:r>
            <a:r>
              <a:rPr lang="zh-CN" altLang="en-US" dirty="0"/>
              <a:t>美元收购了</a:t>
            </a:r>
          </a:p>
        </p:txBody>
      </p:sp>
      <p:pic>
        <p:nvPicPr>
          <p:cNvPr id="1026" name="Picture 2" descr="Cover image for COSS Weekly #97">
            <a:extLst>
              <a:ext uri="{FF2B5EF4-FFF2-40B4-BE49-F238E27FC236}">
                <a16:creationId xmlns:a16="http://schemas.microsoft.com/office/drawing/2014/main" id="{534BA928-D6E7-F103-ED7D-D82FA8009E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4011" y="1825625"/>
            <a:ext cx="3149789" cy="13255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ver image for COSS Weekly #95">
            <a:extLst>
              <a:ext uri="{FF2B5EF4-FFF2-40B4-BE49-F238E27FC236}">
                <a16:creationId xmlns:a16="http://schemas.microsoft.com/office/drawing/2014/main" id="{79CD392B-DBAD-4333-60B2-25D6E000D8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4011" y="3144603"/>
            <a:ext cx="3149789" cy="132423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ver image for COSS Weekly #85">
            <a:extLst>
              <a:ext uri="{FF2B5EF4-FFF2-40B4-BE49-F238E27FC236}">
                <a16:creationId xmlns:a16="http://schemas.microsoft.com/office/drawing/2014/main" id="{0A5730E5-0075-DAE3-B9FF-A168B19CA2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4011" y="4460371"/>
            <a:ext cx="3149789" cy="1325563"/>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0AB1E2E9-911F-F6F8-4DAB-9DDFCCF47591}"/>
              </a:ext>
            </a:extLst>
          </p:cNvPr>
          <p:cNvSpPr txBox="1"/>
          <p:nvPr/>
        </p:nvSpPr>
        <p:spPr>
          <a:xfrm>
            <a:off x="9000066" y="6056233"/>
            <a:ext cx="2472267" cy="307777"/>
          </a:xfrm>
          <a:prstGeom prst="rect">
            <a:avLst/>
          </a:prstGeom>
          <a:noFill/>
        </p:spPr>
        <p:txBody>
          <a:bodyPr wrap="square">
            <a:spAutoFit/>
          </a:bodyPr>
          <a:lstStyle/>
          <a:p>
            <a:r>
              <a:rPr lang="zh-CN" altLang="en-US" sz="700" dirty="0">
                <a:hlinkClick r:id="rId5"/>
              </a:rPr>
              <a:t>https://github.com/CrowdDotDev/awesome-oss-investors</a:t>
            </a:r>
            <a:endParaRPr lang="en-US" altLang="zh-CN" sz="700" dirty="0"/>
          </a:p>
          <a:p>
            <a:endParaRPr lang="zh-CN" altLang="en-US" sz="700" dirty="0"/>
          </a:p>
        </p:txBody>
      </p:sp>
      <p:pic>
        <p:nvPicPr>
          <p:cNvPr id="6" name="图片 5">
            <a:extLst>
              <a:ext uri="{FF2B5EF4-FFF2-40B4-BE49-F238E27FC236}">
                <a16:creationId xmlns:a16="http://schemas.microsoft.com/office/drawing/2014/main" id="{DA7EBA77-D70C-53CE-0CBA-F6E8CEC1B0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Tree>
    <p:extLst>
      <p:ext uri="{BB962C8B-B14F-4D97-AF65-F5344CB8AC3E}">
        <p14:creationId xmlns:p14="http://schemas.microsoft.com/office/powerpoint/2010/main" val="3520026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AB405D-CD7C-2F97-1F98-29E8337FFDC9}"/>
              </a:ext>
            </a:extLst>
          </p:cNvPr>
          <p:cNvSpPr>
            <a:spLocks noGrp="1"/>
          </p:cNvSpPr>
          <p:nvPr>
            <p:ph type="title"/>
          </p:nvPr>
        </p:nvSpPr>
        <p:spPr/>
        <p:txBody>
          <a:bodyPr/>
          <a:lstStyle/>
          <a:p>
            <a:r>
              <a:rPr lang="zh-CN" altLang="en-US" dirty="0"/>
              <a:t>互联网文化</a:t>
            </a:r>
          </a:p>
        </p:txBody>
      </p:sp>
      <p:sp>
        <p:nvSpPr>
          <p:cNvPr id="3" name="内容占位符 2">
            <a:extLst>
              <a:ext uri="{FF2B5EF4-FFF2-40B4-BE49-F238E27FC236}">
                <a16:creationId xmlns:a16="http://schemas.microsoft.com/office/drawing/2014/main" id="{A00EC3EA-336A-3F61-F96E-5E3D0386E130}"/>
              </a:ext>
            </a:extLst>
          </p:cNvPr>
          <p:cNvSpPr>
            <a:spLocks noGrp="1"/>
          </p:cNvSpPr>
          <p:nvPr>
            <p:ph idx="1"/>
          </p:nvPr>
        </p:nvSpPr>
        <p:spPr/>
        <p:txBody>
          <a:bodyPr/>
          <a:lstStyle/>
          <a:p>
            <a:r>
              <a:rPr lang="zh-CN" altLang="en-US" dirty="0"/>
              <a:t>我们已经发展出了自己的互联网文化</a:t>
            </a:r>
            <a:endParaRPr lang="en-US" altLang="zh-CN" dirty="0"/>
          </a:p>
          <a:p>
            <a:r>
              <a:rPr lang="zh-CN" altLang="en-US" dirty="0"/>
              <a:t>从表情符号</a:t>
            </a:r>
            <a:r>
              <a:rPr lang="en-US" altLang="zh-CN" dirty="0">
                <a:sym typeface="Wingdings" panose="05000000000000000000" pitchFamily="2" charset="2"/>
              </a:rPr>
              <a:t>  </a:t>
            </a:r>
            <a:r>
              <a:rPr lang="zh-CN" altLang="en-US" dirty="0">
                <a:sym typeface="Wingdings" panose="05000000000000000000" pitchFamily="2" charset="2"/>
              </a:rPr>
              <a:t>到</a:t>
            </a:r>
            <a:r>
              <a:rPr lang="zh-CN" altLang="en-US" dirty="0"/>
              <a:t>表情包 </a:t>
            </a:r>
            <a:endParaRPr lang="en-US" altLang="zh-CN" dirty="0"/>
          </a:p>
          <a:p>
            <a:r>
              <a:rPr lang="zh-CN" altLang="en-US" dirty="0"/>
              <a:t>更厉害的是，是咱们的互联网思维</a:t>
            </a:r>
            <a:endParaRPr lang="en-US" altLang="zh-CN" dirty="0"/>
          </a:p>
          <a:p>
            <a:pPr lvl="1"/>
            <a:r>
              <a:rPr lang="zh-CN" altLang="en-US" dirty="0"/>
              <a:t>免费</a:t>
            </a:r>
            <a:endParaRPr lang="en-US" altLang="zh-CN" dirty="0"/>
          </a:p>
          <a:p>
            <a:pPr lvl="1"/>
            <a:r>
              <a:rPr lang="zh-CN" altLang="en-US" dirty="0"/>
              <a:t>私域流量</a:t>
            </a:r>
            <a:endParaRPr lang="en-US" altLang="zh-CN" dirty="0"/>
          </a:p>
          <a:p>
            <a:pPr lvl="1"/>
            <a:r>
              <a:rPr lang="zh-CN" altLang="en-US" dirty="0"/>
              <a:t>漏斗模型</a:t>
            </a:r>
            <a:endParaRPr lang="en-US" altLang="zh-CN" dirty="0"/>
          </a:p>
          <a:p>
            <a:pPr lvl="1"/>
            <a:r>
              <a:rPr lang="zh-CN" altLang="en-US" dirty="0"/>
              <a:t>获客成本</a:t>
            </a:r>
            <a:endParaRPr lang="en-US" altLang="zh-CN" dirty="0"/>
          </a:p>
          <a:p>
            <a:pPr lvl="1"/>
            <a:r>
              <a:rPr lang="zh-CN" altLang="en-US" dirty="0"/>
              <a:t>转化率与留存率</a:t>
            </a:r>
            <a:endParaRPr lang="en-US" altLang="zh-CN" dirty="0"/>
          </a:p>
          <a:p>
            <a:endParaRPr lang="en-US" altLang="zh-CN" dirty="0"/>
          </a:p>
          <a:p>
            <a:endParaRPr lang="en-US" altLang="zh-CN" dirty="0"/>
          </a:p>
          <a:p>
            <a:endParaRPr lang="en-US" altLang="zh-CN" dirty="0"/>
          </a:p>
        </p:txBody>
      </p:sp>
      <p:pic>
        <p:nvPicPr>
          <p:cNvPr id="7" name="图片 6">
            <a:extLst>
              <a:ext uri="{FF2B5EF4-FFF2-40B4-BE49-F238E27FC236}">
                <a16:creationId xmlns:a16="http://schemas.microsoft.com/office/drawing/2014/main" id="{9DD857AA-7E7B-38AC-7388-5B0538C10A68}"/>
              </a:ext>
            </a:extLst>
          </p:cNvPr>
          <p:cNvPicPr>
            <a:picLocks noChangeAspect="1"/>
          </p:cNvPicPr>
          <p:nvPr/>
        </p:nvPicPr>
        <p:blipFill>
          <a:blip r:embed="rId2"/>
          <a:stretch>
            <a:fillRect/>
          </a:stretch>
        </p:blipFill>
        <p:spPr>
          <a:xfrm>
            <a:off x="7820025" y="1825625"/>
            <a:ext cx="3533775" cy="2466975"/>
          </a:xfrm>
          <a:prstGeom prst="rect">
            <a:avLst/>
          </a:prstGeom>
        </p:spPr>
      </p:pic>
      <p:pic>
        <p:nvPicPr>
          <p:cNvPr id="8" name="图片 7">
            <a:extLst>
              <a:ext uri="{FF2B5EF4-FFF2-40B4-BE49-F238E27FC236}">
                <a16:creationId xmlns:a16="http://schemas.microsoft.com/office/drawing/2014/main" id="{35B914A4-990F-011F-E670-3F02760043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Tree>
    <p:extLst>
      <p:ext uri="{BB962C8B-B14F-4D97-AF65-F5344CB8AC3E}">
        <p14:creationId xmlns:p14="http://schemas.microsoft.com/office/powerpoint/2010/main" val="4015041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E6D94A-0777-E340-5C8A-9669CFF975B7}"/>
              </a:ext>
            </a:extLst>
          </p:cNvPr>
          <p:cNvSpPr>
            <a:spLocks noGrp="1"/>
          </p:cNvSpPr>
          <p:nvPr>
            <p:ph type="title"/>
          </p:nvPr>
        </p:nvSpPr>
        <p:spPr/>
        <p:txBody>
          <a:bodyPr/>
          <a:lstStyle/>
          <a:p>
            <a:r>
              <a:rPr lang="zh-CN" altLang="en-US" dirty="0"/>
              <a:t>互联网思维模式</a:t>
            </a:r>
          </a:p>
        </p:txBody>
      </p:sp>
      <p:sp>
        <p:nvSpPr>
          <p:cNvPr id="3" name="内容占位符 2">
            <a:extLst>
              <a:ext uri="{FF2B5EF4-FFF2-40B4-BE49-F238E27FC236}">
                <a16:creationId xmlns:a16="http://schemas.microsoft.com/office/drawing/2014/main" id="{26729ECF-25F3-FFEA-FB54-5125918A64FD}"/>
              </a:ext>
            </a:extLst>
          </p:cNvPr>
          <p:cNvSpPr>
            <a:spLocks noGrp="1"/>
          </p:cNvSpPr>
          <p:nvPr>
            <p:ph idx="1"/>
          </p:nvPr>
        </p:nvSpPr>
        <p:spPr/>
        <p:txBody>
          <a:bodyPr anchor="ctr"/>
          <a:lstStyle/>
          <a:p>
            <a:pPr marL="0" indent="0" algn="ctr">
              <a:buNone/>
            </a:pPr>
            <a:r>
              <a:rPr lang="zh-CN" altLang="en-US" dirty="0"/>
              <a:t>成为大多数（开源）社区运营者的主要汇报话术</a:t>
            </a:r>
            <a:endParaRPr lang="en-US" altLang="zh-CN" dirty="0"/>
          </a:p>
          <a:p>
            <a:pPr marL="0" indent="0" algn="ctr">
              <a:buNone/>
            </a:pPr>
            <a:endParaRPr lang="en-US" altLang="zh-CN" dirty="0"/>
          </a:p>
          <a:p>
            <a:pPr marL="0" indent="0" algn="ctr">
              <a:buNone/>
            </a:pPr>
            <a:r>
              <a:rPr lang="zh-CN" altLang="en-US" dirty="0"/>
              <a:t>甚至成为他们的运营思路的根源</a:t>
            </a:r>
          </a:p>
        </p:txBody>
      </p:sp>
      <p:pic>
        <p:nvPicPr>
          <p:cNvPr id="4" name="图片 3">
            <a:extLst>
              <a:ext uri="{FF2B5EF4-FFF2-40B4-BE49-F238E27FC236}">
                <a16:creationId xmlns:a16="http://schemas.microsoft.com/office/drawing/2014/main" id="{2DD0C180-8A0F-7FB3-8238-6F5E0F2DB8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Tree>
    <p:extLst>
      <p:ext uri="{BB962C8B-B14F-4D97-AF65-F5344CB8AC3E}">
        <p14:creationId xmlns:p14="http://schemas.microsoft.com/office/powerpoint/2010/main" val="1250912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83AEE2-9AD9-4D34-6730-858B426FA213}"/>
              </a:ext>
            </a:extLst>
          </p:cNvPr>
          <p:cNvSpPr>
            <a:spLocks noGrp="1"/>
          </p:cNvSpPr>
          <p:nvPr>
            <p:ph type="title"/>
          </p:nvPr>
        </p:nvSpPr>
        <p:spPr/>
        <p:txBody>
          <a:bodyPr/>
          <a:lstStyle/>
          <a:p>
            <a:r>
              <a:rPr lang="zh-CN" altLang="en-US" dirty="0"/>
              <a:t>民族自强的文化是什么</a:t>
            </a:r>
            <a:r>
              <a:rPr lang="en-US" altLang="zh-CN" dirty="0"/>
              <a:t>?</a:t>
            </a:r>
            <a:endParaRPr lang="zh-CN" altLang="en-US" dirty="0"/>
          </a:p>
        </p:txBody>
      </p:sp>
      <p:sp>
        <p:nvSpPr>
          <p:cNvPr id="3" name="内容占位符 2">
            <a:extLst>
              <a:ext uri="{FF2B5EF4-FFF2-40B4-BE49-F238E27FC236}">
                <a16:creationId xmlns:a16="http://schemas.microsoft.com/office/drawing/2014/main" id="{38786CDA-5B63-5D15-AC1E-04BE06734ED2}"/>
              </a:ext>
            </a:extLst>
          </p:cNvPr>
          <p:cNvSpPr>
            <a:spLocks noGrp="1"/>
          </p:cNvSpPr>
          <p:nvPr>
            <p:ph idx="1"/>
          </p:nvPr>
        </p:nvSpPr>
        <p:spPr>
          <a:xfrm>
            <a:off x="838200" y="1825625"/>
            <a:ext cx="10515600" cy="4592108"/>
          </a:xfrm>
        </p:spPr>
        <p:txBody>
          <a:bodyPr/>
          <a:lstStyle/>
          <a:p>
            <a:r>
              <a:rPr lang="en-US" altLang="zh-CN" dirty="0"/>
              <a:t>1842</a:t>
            </a:r>
            <a:r>
              <a:rPr lang="zh-CN" altLang="en-US" dirty="0"/>
              <a:t>年，魏源提出“</a:t>
            </a:r>
            <a:r>
              <a:rPr lang="zh-CN" altLang="en-US" b="0" i="0" dirty="0">
                <a:solidFill>
                  <a:srgbClr val="000000"/>
                </a:solidFill>
                <a:effectLst/>
                <a:latin typeface="arial" panose="020B0604020202020204" pitchFamily="34" charset="0"/>
              </a:rPr>
              <a:t>师夷长技以制夷</a:t>
            </a:r>
            <a:r>
              <a:rPr lang="zh-CN" altLang="en-US" dirty="0"/>
              <a:t>”</a:t>
            </a:r>
            <a:endParaRPr lang="en-US" altLang="zh-CN" dirty="0"/>
          </a:p>
          <a:p>
            <a:r>
              <a:rPr lang="en-US" altLang="zh-CN" dirty="0"/>
              <a:t>1862</a:t>
            </a:r>
            <a:r>
              <a:rPr lang="zh-CN" altLang="en-US" dirty="0"/>
              <a:t>年，</a:t>
            </a:r>
            <a:r>
              <a:rPr lang="zh-CN" altLang="en-US" dirty="0">
                <a:solidFill>
                  <a:srgbClr val="FF0000"/>
                </a:solidFill>
              </a:rPr>
              <a:t>自强运动</a:t>
            </a:r>
            <a:endParaRPr lang="en-US" altLang="zh-CN" dirty="0"/>
          </a:p>
          <a:p>
            <a:pPr lvl="1"/>
            <a:r>
              <a:rPr lang="zh-CN" altLang="en-US" dirty="0"/>
              <a:t>史称“洋务运动”</a:t>
            </a:r>
            <a:endParaRPr lang="en-US" altLang="zh-CN" dirty="0"/>
          </a:p>
          <a:p>
            <a:r>
              <a:rPr lang="en-US" altLang="zh-CN" dirty="0"/>
              <a:t>1898</a:t>
            </a:r>
            <a:r>
              <a:rPr lang="zh-CN" altLang="en-US" dirty="0"/>
              <a:t>年，变法维新</a:t>
            </a:r>
            <a:endParaRPr lang="en-US" altLang="zh-CN" dirty="0"/>
          </a:p>
          <a:p>
            <a:r>
              <a:rPr lang="en-US" altLang="zh-CN" dirty="0"/>
              <a:t>1915</a:t>
            </a:r>
            <a:r>
              <a:rPr lang="zh-CN" altLang="en-US" dirty="0"/>
              <a:t>年，新文化运动</a:t>
            </a:r>
            <a:endParaRPr lang="en-US" altLang="zh-CN" dirty="0"/>
          </a:p>
          <a:p>
            <a:r>
              <a:rPr lang="en-US" altLang="zh-CN" dirty="0"/>
              <a:t>1949~1978</a:t>
            </a:r>
            <a:r>
              <a:rPr lang="zh-CN" altLang="en-US" dirty="0"/>
              <a:t>年，大规模社会主义建设，两弹一星</a:t>
            </a:r>
            <a:endParaRPr lang="en-US" altLang="zh-CN" dirty="0"/>
          </a:p>
          <a:p>
            <a:r>
              <a:rPr lang="en-US" altLang="zh-CN" dirty="0"/>
              <a:t>1978</a:t>
            </a:r>
            <a:r>
              <a:rPr lang="zh-CN" altLang="en-US" dirty="0"/>
              <a:t>年</a:t>
            </a:r>
            <a:r>
              <a:rPr lang="en-US" altLang="zh-CN" dirty="0"/>
              <a:t>~</a:t>
            </a:r>
            <a:r>
              <a:rPr lang="zh-CN" altLang="en-US" dirty="0"/>
              <a:t>，改革开放，急起直追</a:t>
            </a:r>
            <a:endParaRPr lang="en-US" altLang="zh-CN" dirty="0"/>
          </a:p>
          <a:p>
            <a:endParaRPr lang="en-US" altLang="zh-CN" dirty="0"/>
          </a:p>
          <a:p>
            <a:r>
              <a:rPr lang="zh-CN" altLang="en-US" dirty="0"/>
              <a:t>百年奋斗，从积贫积弱，到自立自强</a:t>
            </a:r>
            <a:endParaRPr lang="en-US" altLang="zh-CN" dirty="0"/>
          </a:p>
          <a:p>
            <a:endParaRPr lang="zh-CN" altLang="en-US" dirty="0"/>
          </a:p>
        </p:txBody>
      </p:sp>
      <p:pic>
        <p:nvPicPr>
          <p:cNvPr id="4" name="图片 3">
            <a:extLst>
              <a:ext uri="{FF2B5EF4-FFF2-40B4-BE49-F238E27FC236}">
                <a16:creationId xmlns:a16="http://schemas.microsoft.com/office/drawing/2014/main" id="{6D3D57BD-5EAD-771F-7B7D-FEBCD9717C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Tree>
    <p:extLst>
      <p:ext uri="{BB962C8B-B14F-4D97-AF65-F5344CB8AC3E}">
        <p14:creationId xmlns:p14="http://schemas.microsoft.com/office/powerpoint/2010/main" val="3550414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3F08D8-774C-9EB1-50BA-62DB712FD942}"/>
              </a:ext>
            </a:extLst>
          </p:cNvPr>
          <p:cNvSpPr>
            <a:spLocks noGrp="1"/>
          </p:cNvSpPr>
          <p:nvPr>
            <p:ph type="title"/>
          </p:nvPr>
        </p:nvSpPr>
        <p:spPr/>
        <p:txBody>
          <a:bodyPr/>
          <a:lstStyle/>
          <a:p>
            <a:r>
              <a:rPr lang="zh-CN" altLang="en-US" dirty="0"/>
              <a:t>在开源领域的民族自强</a:t>
            </a:r>
          </a:p>
        </p:txBody>
      </p:sp>
      <p:sp>
        <p:nvSpPr>
          <p:cNvPr id="3" name="内容占位符 2">
            <a:extLst>
              <a:ext uri="{FF2B5EF4-FFF2-40B4-BE49-F238E27FC236}">
                <a16:creationId xmlns:a16="http://schemas.microsoft.com/office/drawing/2014/main" id="{8AB72769-6B35-40E2-5739-4CDC22A991C2}"/>
              </a:ext>
            </a:extLst>
          </p:cNvPr>
          <p:cNvSpPr>
            <a:spLocks noGrp="1"/>
          </p:cNvSpPr>
          <p:nvPr>
            <p:ph idx="1"/>
          </p:nvPr>
        </p:nvSpPr>
        <p:spPr/>
        <p:txBody>
          <a:bodyPr/>
          <a:lstStyle/>
          <a:p>
            <a:r>
              <a:rPr lang="zh-CN" altLang="en-US" dirty="0"/>
              <a:t>我们要有自己的开源</a:t>
            </a:r>
            <a:endParaRPr lang="en-US" altLang="zh-CN" dirty="0"/>
          </a:p>
          <a:p>
            <a:r>
              <a:rPr lang="zh-CN" altLang="en-US" dirty="0"/>
              <a:t>我们要有自己的操作系统</a:t>
            </a:r>
            <a:endParaRPr lang="en-US" altLang="zh-CN" dirty="0"/>
          </a:p>
          <a:p>
            <a:r>
              <a:rPr lang="zh-CN" altLang="en-US" dirty="0"/>
              <a:t>我们要有自己的根技术</a:t>
            </a:r>
            <a:endParaRPr lang="en-US" altLang="zh-CN" dirty="0"/>
          </a:p>
          <a:p>
            <a:r>
              <a:rPr lang="zh-CN" altLang="en-US" dirty="0"/>
              <a:t>我们要有自己的基础设施</a:t>
            </a:r>
            <a:endParaRPr lang="en-US" altLang="zh-CN" dirty="0"/>
          </a:p>
          <a:p>
            <a:r>
              <a:rPr lang="zh-CN" altLang="en-US" dirty="0"/>
              <a:t>我们要有自己的</a:t>
            </a:r>
            <a:r>
              <a:rPr lang="en-US" altLang="zh-CN" dirty="0"/>
              <a:t>……</a:t>
            </a:r>
          </a:p>
          <a:p>
            <a:endParaRPr lang="en-US" altLang="zh-CN" dirty="0"/>
          </a:p>
          <a:p>
            <a:r>
              <a:rPr lang="zh-CN" altLang="en-US" dirty="0"/>
              <a:t>我们要建设自己的开源，不能受制于人</a:t>
            </a:r>
          </a:p>
        </p:txBody>
      </p:sp>
      <p:pic>
        <p:nvPicPr>
          <p:cNvPr id="4" name="图片 3">
            <a:extLst>
              <a:ext uri="{FF2B5EF4-FFF2-40B4-BE49-F238E27FC236}">
                <a16:creationId xmlns:a16="http://schemas.microsoft.com/office/drawing/2014/main" id="{3DB49E8C-4EB7-EF1F-4BDC-363507ABD9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Tree>
    <p:extLst>
      <p:ext uri="{BB962C8B-B14F-4D97-AF65-F5344CB8AC3E}">
        <p14:creationId xmlns:p14="http://schemas.microsoft.com/office/powerpoint/2010/main" val="2622633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allAtOnce"/>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6588D9-F434-8DEF-AF51-0B70BDC1E681}"/>
              </a:ext>
            </a:extLst>
          </p:cNvPr>
          <p:cNvSpPr>
            <a:spLocks noGrp="1"/>
          </p:cNvSpPr>
          <p:nvPr>
            <p:ph type="title"/>
          </p:nvPr>
        </p:nvSpPr>
        <p:spPr/>
        <p:txBody>
          <a:bodyPr/>
          <a:lstStyle/>
          <a:p>
            <a:r>
              <a:rPr lang="zh-CN" altLang="en-US" dirty="0"/>
              <a:t>文化冲突</a:t>
            </a:r>
          </a:p>
        </p:txBody>
      </p:sp>
      <p:sp>
        <p:nvSpPr>
          <p:cNvPr id="3" name="内容占位符 2">
            <a:extLst>
              <a:ext uri="{FF2B5EF4-FFF2-40B4-BE49-F238E27FC236}">
                <a16:creationId xmlns:a16="http://schemas.microsoft.com/office/drawing/2014/main" id="{DA010D81-B7F4-4050-93EB-CD24A057B2B6}"/>
              </a:ext>
            </a:extLst>
          </p:cNvPr>
          <p:cNvSpPr>
            <a:spLocks noGrp="1"/>
          </p:cNvSpPr>
          <p:nvPr>
            <p:ph idx="1"/>
          </p:nvPr>
        </p:nvSpPr>
        <p:spPr/>
        <p:txBody>
          <a:bodyPr anchor="ctr"/>
          <a:lstStyle/>
          <a:p>
            <a:pPr marL="0" indent="0" algn="ctr">
              <a:buNone/>
            </a:pPr>
            <a:r>
              <a:rPr lang="zh-CN" altLang="en-US" dirty="0"/>
              <a:t>围绕开源的四种文化根源，存在互相冲突</a:t>
            </a:r>
          </a:p>
        </p:txBody>
      </p:sp>
      <p:pic>
        <p:nvPicPr>
          <p:cNvPr id="4" name="图片 3">
            <a:extLst>
              <a:ext uri="{FF2B5EF4-FFF2-40B4-BE49-F238E27FC236}">
                <a16:creationId xmlns:a16="http://schemas.microsoft.com/office/drawing/2014/main" id="{8D0C9CC7-866C-642D-6411-E50030DB87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Tree>
    <p:extLst>
      <p:ext uri="{BB962C8B-B14F-4D97-AF65-F5344CB8AC3E}">
        <p14:creationId xmlns:p14="http://schemas.microsoft.com/office/powerpoint/2010/main" val="428598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011E5A-A8ED-A8F2-BCCE-3234A7E23029}"/>
              </a:ext>
            </a:extLst>
          </p:cNvPr>
          <p:cNvSpPr>
            <a:spLocks noGrp="1"/>
          </p:cNvSpPr>
          <p:nvPr>
            <p:ph type="title"/>
          </p:nvPr>
        </p:nvSpPr>
        <p:spPr/>
        <p:txBody>
          <a:bodyPr/>
          <a:lstStyle/>
          <a:p>
            <a:r>
              <a:rPr lang="zh-CN" altLang="en-US" dirty="0"/>
              <a:t>对治之法（一）</a:t>
            </a:r>
          </a:p>
        </p:txBody>
      </p:sp>
      <p:sp>
        <p:nvSpPr>
          <p:cNvPr id="3" name="内容占位符 2">
            <a:extLst>
              <a:ext uri="{FF2B5EF4-FFF2-40B4-BE49-F238E27FC236}">
                <a16:creationId xmlns:a16="http://schemas.microsoft.com/office/drawing/2014/main" id="{ADE92914-C8C3-E6C0-B100-CBCBD9621396}"/>
              </a:ext>
            </a:extLst>
          </p:cNvPr>
          <p:cNvSpPr>
            <a:spLocks noGrp="1"/>
          </p:cNvSpPr>
          <p:nvPr>
            <p:ph idx="1"/>
          </p:nvPr>
        </p:nvSpPr>
        <p:spPr>
          <a:xfrm>
            <a:off x="838200" y="1825625"/>
            <a:ext cx="4927600" cy="1958975"/>
          </a:xfrm>
        </p:spPr>
        <p:txBody>
          <a:bodyPr anchor="ctr">
            <a:normAutofit/>
          </a:bodyPr>
          <a:lstStyle/>
          <a:p>
            <a:pPr marL="0" indent="0" algn="ctr">
              <a:buNone/>
            </a:pPr>
            <a:r>
              <a:rPr lang="zh-CN" altLang="en-US" sz="2000" dirty="0"/>
              <a:t>墨子</a:t>
            </a:r>
            <a:r>
              <a:rPr lang="zh-CN" altLang="en-US" sz="2000" dirty="0">
                <a:solidFill>
                  <a:srgbClr val="FF0000"/>
                </a:solidFill>
              </a:rPr>
              <a:t>兼爱</a:t>
            </a:r>
            <a:r>
              <a:rPr lang="zh-CN" altLang="en-US" sz="2000" dirty="0"/>
              <a:t>，摩顶放踵利天下，为之。</a:t>
            </a:r>
          </a:p>
        </p:txBody>
      </p:sp>
      <p:sp>
        <p:nvSpPr>
          <p:cNvPr id="4" name="内容占位符 2">
            <a:extLst>
              <a:ext uri="{FF2B5EF4-FFF2-40B4-BE49-F238E27FC236}">
                <a16:creationId xmlns:a16="http://schemas.microsoft.com/office/drawing/2014/main" id="{6C5759F9-99CD-E80E-D754-47310784C15A}"/>
              </a:ext>
            </a:extLst>
          </p:cNvPr>
          <p:cNvSpPr txBox="1">
            <a:spLocks/>
          </p:cNvSpPr>
          <p:nvPr/>
        </p:nvSpPr>
        <p:spPr>
          <a:xfrm>
            <a:off x="6426200" y="1825625"/>
            <a:ext cx="4927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sp>
        <p:nvSpPr>
          <p:cNvPr id="5" name="内容占位符 2">
            <a:extLst>
              <a:ext uri="{FF2B5EF4-FFF2-40B4-BE49-F238E27FC236}">
                <a16:creationId xmlns:a16="http://schemas.microsoft.com/office/drawing/2014/main" id="{B78BA334-F841-55B5-4412-609C10C979AD}"/>
              </a:ext>
            </a:extLst>
          </p:cNvPr>
          <p:cNvSpPr txBox="1">
            <a:spLocks/>
          </p:cNvSpPr>
          <p:nvPr/>
        </p:nvSpPr>
        <p:spPr>
          <a:xfrm>
            <a:off x="6426200" y="1825625"/>
            <a:ext cx="4927600" cy="1958975"/>
          </a:xfrm>
          <a:prstGeom prst="rect">
            <a:avLst/>
          </a:prstGeom>
        </p:spPr>
        <p:txBody>
          <a:bodyPr vert="horz" lIns="91440" tIns="45720" rIns="91440" bIns="45720" rtlCol="0" anchor="ctr">
            <a:normAutofit/>
          </a:bodyPr>
          <a:lstStyle>
            <a:lvl1pPr indent="0" algn="ctr">
              <a:lnSpc>
                <a:spcPct val="90000"/>
              </a:lnSpc>
              <a:spcBef>
                <a:spcPts val="1000"/>
              </a:spcBef>
              <a:buFont typeface="Arial" panose="020B0604020202020204" pitchFamily="34" charset="0"/>
              <a:buNone/>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2000" dirty="0"/>
              <a:t>杨子取</a:t>
            </a:r>
            <a:r>
              <a:rPr lang="zh-CN" altLang="en-US" sz="2000" dirty="0">
                <a:solidFill>
                  <a:srgbClr val="FF0000"/>
                </a:solidFill>
              </a:rPr>
              <a:t>为我</a:t>
            </a:r>
            <a:r>
              <a:rPr lang="zh-CN" altLang="en-US" sz="2000" dirty="0"/>
              <a:t>，拔一毛而利天下，不为也。</a:t>
            </a:r>
          </a:p>
        </p:txBody>
      </p:sp>
      <p:sp>
        <p:nvSpPr>
          <p:cNvPr id="6" name="文本框 5">
            <a:extLst>
              <a:ext uri="{FF2B5EF4-FFF2-40B4-BE49-F238E27FC236}">
                <a16:creationId xmlns:a16="http://schemas.microsoft.com/office/drawing/2014/main" id="{65DD5591-C524-AB43-E8E9-FAF62B9FC272}"/>
              </a:ext>
            </a:extLst>
          </p:cNvPr>
          <p:cNvSpPr txBox="1"/>
          <p:nvPr/>
        </p:nvSpPr>
        <p:spPr>
          <a:xfrm>
            <a:off x="3970866" y="4834467"/>
            <a:ext cx="4250267" cy="369332"/>
          </a:xfrm>
          <a:prstGeom prst="rect">
            <a:avLst/>
          </a:prstGeom>
          <a:noFill/>
        </p:spPr>
        <p:txBody>
          <a:bodyPr wrap="square" rtlCol="0">
            <a:spAutoFit/>
          </a:bodyPr>
          <a:lstStyle/>
          <a:p>
            <a:r>
              <a:rPr lang="zh-CN" altLang="en-US" dirty="0"/>
              <a:t>孟子曰：</a:t>
            </a:r>
            <a:r>
              <a:rPr lang="zh-CN" altLang="en-US" dirty="0">
                <a:solidFill>
                  <a:schemeClr val="accent1"/>
                </a:solidFill>
              </a:rPr>
              <a:t>子莫</a:t>
            </a:r>
            <a:r>
              <a:rPr lang="zh-CN" altLang="en-US" dirty="0"/>
              <a:t>执中，执中为近之</a:t>
            </a:r>
          </a:p>
        </p:txBody>
      </p:sp>
      <p:pic>
        <p:nvPicPr>
          <p:cNvPr id="7" name="图片 6">
            <a:extLst>
              <a:ext uri="{FF2B5EF4-FFF2-40B4-BE49-F238E27FC236}">
                <a16:creationId xmlns:a16="http://schemas.microsoft.com/office/drawing/2014/main" id="{902F8BAC-E3A6-D242-CF10-BE3DD39C58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Tree>
    <p:extLst>
      <p:ext uri="{BB962C8B-B14F-4D97-AF65-F5344CB8AC3E}">
        <p14:creationId xmlns:p14="http://schemas.microsoft.com/office/powerpoint/2010/main" val="4037183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1FAAFA-1D10-820F-E3C3-92389717FEF0}"/>
              </a:ext>
            </a:extLst>
          </p:cNvPr>
          <p:cNvSpPr>
            <a:spLocks noGrp="1"/>
          </p:cNvSpPr>
          <p:nvPr>
            <p:ph type="title"/>
          </p:nvPr>
        </p:nvSpPr>
        <p:spPr/>
        <p:txBody>
          <a:bodyPr/>
          <a:lstStyle/>
          <a:p>
            <a:r>
              <a:rPr lang="zh-CN" altLang="en-US"/>
              <a:t>对治之法（二）</a:t>
            </a:r>
          </a:p>
        </p:txBody>
      </p:sp>
      <p:pic>
        <p:nvPicPr>
          <p:cNvPr id="4" name="图片 3">
            <a:extLst>
              <a:ext uri="{FF2B5EF4-FFF2-40B4-BE49-F238E27FC236}">
                <a16:creationId xmlns:a16="http://schemas.microsoft.com/office/drawing/2014/main" id="{C76545F7-DEC8-9A81-1BC4-8964432725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
        <p:nvSpPr>
          <p:cNvPr id="5" name="内容占位符 2">
            <a:extLst>
              <a:ext uri="{FF2B5EF4-FFF2-40B4-BE49-F238E27FC236}">
                <a16:creationId xmlns:a16="http://schemas.microsoft.com/office/drawing/2014/main" id="{498AD4C5-9BA9-D327-601D-40149011386C}"/>
              </a:ext>
            </a:extLst>
          </p:cNvPr>
          <p:cNvSpPr>
            <a:spLocks noGrp="1"/>
          </p:cNvSpPr>
          <p:nvPr>
            <p:ph idx="1"/>
          </p:nvPr>
        </p:nvSpPr>
        <p:spPr>
          <a:xfrm>
            <a:off x="838200" y="1825625"/>
            <a:ext cx="4927600" cy="1958975"/>
          </a:xfrm>
        </p:spPr>
        <p:txBody>
          <a:bodyPr anchor="ctr">
            <a:normAutofit/>
          </a:bodyPr>
          <a:lstStyle/>
          <a:p>
            <a:pPr marL="0" indent="0" algn="ctr">
              <a:buNone/>
            </a:pPr>
            <a:r>
              <a:rPr lang="zh-CN" altLang="en-US" sz="2000" dirty="0"/>
              <a:t>开源的商业文化，失之在</a:t>
            </a:r>
            <a:r>
              <a:rPr lang="zh-CN" altLang="en-US" sz="2000" dirty="0">
                <a:solidFill>
                  <a:srgbClr val="FF0000"/>
                </a:solidFill>
              </a:rPr>
              <a:t>虚</a:t>
            </a:r>
          </a:p>
        </p:txBody>
      </p:sp>
      <p:sp>
        <p:nvSpPr>
          <p:cNvPr id="6" name="内容占位符 2">
            <a:extLst>
              <a:ext uri="{FF2B5EF4-FFF2-40B4-BE49-F238E27FC236}">
                <a16:creationId xmlns:a16="http://schemas.microsoft.com/office/drawing/2014/main" id="{283AE27B-C86F-8BCC-68E9-2C8CE2F60EB6}"/>
              </a:ext>
            </a:extLst>
          </p:cNvPr>
          <p:cNvSpPr txBox="1">
            <a:spLocks/>
          </p:cNvSpPr>
          <p:nvPr/>
        </p:nvSpPr>
        <p:spPr>
          <a:xfrm>
            <a:off x="6426200" y="1825625"/>
            <a:ext cx="4927600" cy="1958975"/>
          </a:xfrm>
          <a:prstGeom prst="rect">
            <a:avLst/>
          </a:prstGeom>
        </p:spPr>
        <p:txBody>
          <a:bodyPr vert="horz" lIns="91440" tIns="45720" rIns="91440" bIns="45720" rtlCol="0" anchor="ctr">
            <a:normAutofit/>
          </a:bodyPr>
          <a:lstStyle>
            <a:lvl1pPr indent="0" algn="ctr">
              <a:lnSpc>
                <a:spcPct val="90000"/>
              </a:lnSpc>
              <a:spcBef>
                <a:spcPts val="1000"/>
              </a:spcBef>
              <a:buFont typeface="Arial" panose="020B0604020202020204" pitchFamily="34" charset="0"/>
              <a:buNone/>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2000" dirty="0"/>
              <a:t>开源的互联网文化，失之在</a:t>
            </a:r>
            <a:r>
              <a:rPr lang="zh-CN" altLang="en-US" sz="2000" dirty="0">
                <a:solidFill>
                  <a:srgbClr val="FF0000"/>
                </a:solidFill>
              </a:rPr>
              <a:t>浮</a:t>
            </a:r>
          </a:p>
        </p:txBody>
      </p:sp>
      <p:sp>
        <p:nvSpPr>
          <p:cNvPr id="7" name="文本框 6">
            <a:extLst>
              <a:ext uri="{FF2B5EF4-FFF2-40B4-BE49-F238E27FC236}">
                <a16:creationId xmlns:a16="http://schemas.microsoft.com/office/drawing/2014/main" id="{BC992AED-1ED3-9507-5499-2145D3D49E47}"/>
              </a:ext>
            </a:extLst>
          </p:cNvPr>
          <p:cNvSpPr txBox="1"/>
          <p:nvPr/>
        </p:nvSpPr>
        <p:spPr>
          <a:xfrm>
            <a:off x="2798233" y="4690534"/>
            <a:ext cx="6595533" cy="369332"/>
          </a:xfrm>
          <a:prstGeom prst="rect">
            <a:avLst/>
          </a:prstGeom>
          <a:noFill/>
        </p:spPr>
        <p:txBody>
          <a:bodyPr wrap="square" rtlCol="0">
            <a:spAutoFit/>
          </a:bodyPr>
          <a:lstStyle/>
          <a:p>
            <a:pPr algn="ctr"/>
            <a:r>
              <a:rPr lang="zh-CN" altLang="en-US" b="0" i="0" dirty="0">
                <a:solidFill>
                  <a:srgbClr val="000000"/>
                </a:solidFill>
                <a:effectLst/>
                <a:latin typeface="Verdana" panose="020B0604030504040204" pitchFamily="34" charset="0"/>
              </a:rPr>
              <a:t>只有真正赚到钱的开源企业越来越多，这样的虚浮才能减少</a:t>
            </a:r>
            <a:endParaRPr lang="zh-CN" altLang="en-US" dirty="0"/>
          </a:p>
        </p:txBody>
      </p:sp>
    </p:spTree>
    <p:extLst>
      <p:ext uri="{BB962C8B-B14F-4D97-AF65-F5344CB8AC3E}">
        <p14:creationId xmlns:p14="http://schemas.microsoft.com/office/powerpoint/2010/main" val="2293401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E6A9A5-CBC1-70F0-9DA9-15F5C13450F3}"/>
              </a:ext>
            </a:extLst>
          </p:cNvPr>
          <p:cNvSpPr>
            <a:spLocks noGrp="1"/>
          </p:cNvSpPr>
          <p:nvPr>
            <p:ph type="title"/>
          </p:nvPr>
        </p:nvSpPr>
        <p:spPr/>
        <p:txBody>
          <a:bodyPr/>
          <a:lstStyle/>
          <a:p>
            <a:r>
              <a:rPr lang="zh-CN" altLang="en-US" dirty="0"/>
              <a:t>对治之法（三）</a:t>
            </a:r>
          </a:p>
        </p:txBody>
      </p:sp>
      <p:pic>
        <p:nvPicPr>
          <p:cNvPr id="4" name="图片 3">
            <a:extLst>
              <a:ext uri="{FF2B5EF4-FFF2-40B4-BE49-F238E27FC236}">
                <a16:creationId xmlns:a16="http://schemas.microsoft.com/office/drawing/2014/main" id="{17816CDF-BE80-6B11-CD4C-D30B08CC3A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1071" y="603813"/>
            <a:ext cx="1500379" cy="505590"/>
          </a:xfrm>
          <a:prstGeom prst="rect">
            <a:avLst/>
          </a:prstGeom>
        </p:spPr>
      </p:pic>
      <p:sp>
        <p:nvSpPr>
          <p:cNvPr id="5" name="内容占位符 2">
            <a:extLst>
              <a:ext uri="{FF2B5EF4-FFF2-40B4-BE49-F238E27FC236}">
                <a16:creationId xmlns:a16="http://schemas.microsoft.com/office/drawing/2014/main" id="{93C1F488-6BB0-FBAD-8023-82D7F9989DC4}"/>
              </a:ext>
            </a:extLst>
          </p:cNvPr>
          <p:cNvSpPr>
            <a:spLocks noGrp="1"/>
          </p:cNvSpPr>
          <p:nvPr>
            <p:ph idx="1"/>
          </p:nvPr>
        </p:nvSpPr>
        <p:spPr>
          <a:xfrm>
            <a:off x="838200" y="1825625"/>
            <a:ext cx="10515600" cy="4351338"/>
          </a:xfrm>
        </p:spPr>
        <p:txBody>
          <a:bodyPr anchor="ctr"/>
          <a:lstStyle/>
          <a:p>
            <a:pPr marL="0" indent="0" algn="ctr">
              <a:buNone/>
            </a:pPr>
            <a:r>
              <a:rPr lang="zh-CN" altLang="en-US" dirty="0"/>
              <a:t>提倡开放式协作，让各方的利益诉求都有合理的回报</a:t>
            </a:r>
          </a:p>
        </p:txBody>
      </p:sp>
    </p:spTree>
    <p:extLst>
      <p:ext uri="{BB962C8B-B14F-4D97-AF65-F5344CB8AC3E}">
        <p14:creationId xmlns:p14="http://schemas.microsoft.com/office/powerpoint/2010/main" val="5157146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1B8B8A8-82C6-2C83-720F-3E53B70BEF2A}"/>
              </a:ext>
            </a:extLst>
          </p:cNvPr>
          <p:cNvSpPr>
            <a:spLocks noGrp="1"/>
          </p:cNvSpPr>
          <p:nvPr>
            <p:ph type="title"/>
          </p:nvPr>
        </p:nvSpPr>
        <p:spPr/>
        <p:txBody>
          <a:bodyPr anchor="t"/>
          <a:lstStyle/>
          <a:p>
            <a:pPr algn="ctr"/>
            <a:r>
              <a:rPr lang="zh-CN" altLang="en-US" dirty="0"/>
              <a:t>生态型开源文化</a:t>
            </a:r>
          </a:p>
        </p:txBody>
      </p:sp>
      <p:sp>
        <p:nvSpPr>
          <p:cNvPr id="5" name="文本占位符 4">
            <a:extLst>
              <a:ext uri="{FF2B5EF4-FFF2-40B4-BE49-F238E27FC236}">
                <a16:creationId xmlns:a16="http://schemas.microsoft.com/office/drawing/2014/main" id="{F1F975CE-F326-771B-CCB8-8ECF395F8294}"/>
              </a:ext>
            </a:extLst>
          </p:cNvPr>
          <p:cNvSpPr>
            <a:spLocks noGrp="1"/>
          </p:cNvSpPr>
          <p:nvPr>
            <p:ph type="body" idx="1"/>
          </p:nvPr>
        </p:nvSpPr>
        <p:spPr/>
        <p:txBody>
          <a:bodyPr/>
          <a:lstStyle/>
          <a:p>
            <a:pPr algn="ctr"/>
            <a:r>
              <a:rPr lang="zh-CN" altLang="en-US" dirty="0"/>
              <a:t>君子和而不同</a:t>
            </a:r>
            <a:r>
              <a:rPr lang="en-US" altLang="zh-CN" dirty="0"/>
              <a:t>——</a:t>
            </a:r>
            <a:r>
              <a:rPr lang="zh-CN" altLang="en-US" dirty="0"/>
              <a:t>大家可以追求不同的利益，却能够在一起合作。</a:t>
            </a:r>
          </a:p>
        </p:txBody>
      </p:sp>
    </p:spTree>
    <p:extLst>
      <p:ext uri="{BB962C8B-B14F-4D97-AF65-F5344CB8AC3E}">
        <p14:creationId xmlns:p14="http://schemas.microsoft.com/office/powerpoint/2010/main" val="1898032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954793" y="1186696"/>
            <a:ext cx="6014365" cy="2137268"/>
          </a:xfrm>
          <a:prstGeom prst="rect">
            <a:avLst/>
          </a:prstGeom>
          <a:noFill/>
          <a:ln w="635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nSpc>
                <a:spcPct val="140000"/>
              </a:lnSpc>
            </a:pPr>
            <a:r>
              <a:rPr lang="en-US" sz="6000" b="1" dirty="0">
                <a:solidFill>
                  <a:srgbClr val="0C5D60"/>
                </a:solidFill>
                <a:latin typeface="思源黑体 CN Bold" panose="020B0800000000000000" pitchFamily="34" charset="-122"/>
                <a:ea typeface="思源黑体 CN Bold" panose="020B0800000000000000" pitchFamily="34" charset="-122"/>
                <a:cs typeface="Raleway"/>
              </a:rPr>
              <a:t>THANK YOU</a:t>
            </a:r>
          </a:p>
          <a:p>
            <a:r>
              <a:rPr lang="en-US" sz="2400" dirty="0">
                <a:solidFill>
                  <a:srgbClr val="0C5D60"/>
                </a:solidFill>
                <a:latin typeface="思源黑体 CN Medium" panose="020B0600000000000000" pitchFamily="34" charset="-122"/>
                <a:ea typeface="思源黑体 CN Medium" panose="020B0600000000000000" pitchFamily="34" charset="-122"/>
                <a:cs typeface="Raleway"/>
              </a:rPr>
              <a:t>QUESTIONS?</a:t>
            </a:r>
          </a:p>
        </p:txBody>
      </p:sp>
      <p:sp>
        <p:nvSpPr>
          <p:cNvPr id="18" name="Rectangle 50"/>
          <p:cNvSpPr/>
          <p:nvPr/>
        </p:nvSpPr>
        <p:spPr>
          <a:xfrm>
            <a:off x="973845" y="4166389"/>
            <a:ext cx="2946640" cy="1350947"/>
          </a:xfrm>
          <a:prstGeom prst="rect">
            <a:avLst/>
          </a:prstGeom>
        </p:spPr>
        <p:txBody>
          <a:bodyPr wrap="none">
            <a:spAutoFit/>
          </a:bodyPr>
          <a:lstStyle/>
          <a:p>
            <a:pPr>
              <a:lnSpc>
                <a:spcPct val="150000"/>
              </a:lnSpc>
            </a:pPr>
            <a:r>
              <a:rPr lang="zh-CN" altLang="en-US" sz="1400" kern="1700" dirty="0">
                <a:solidFill>
                  <a:srgbClr val="0C5D60"/>
                </a:solidFill>
                <a:latin typeface="思源黑体 CN Bold" panose="020B0800000000000000" pitchFamily="34" charset="-122"/>
                <a:ea typeface="思源黑体 CN Bold" panose="020B0800000000000000" pitchFamily="34" charset="-122"/>
              </a:rPr>
              <a:t>微信公众号：开源社</a:t>
            </a:r>
            <a:r>
              <a:rPr lang="en-US" sz="1400" kern="1700" dirty="0">
                <a:solidFill>
                  <a:srgbClr val="0C5D60"/>
                </a:solidFill>
                <a:latin typeface="思源黑体 CN Bold" panose="020B0800000000000000" pitchFamily="34" charset="-122"/>
                <a:ea typeface="思源黑体 CN Bold" panose="020B0800000000000000" pitchFamily="34" charset="-122"/>
              </a:rPr>
              <a:t>KAIYUANSHE</a:t>
            </a:r>
          </a:p>
          <a:p>
            <a:pPr>
              <a:lnSpc>
                <a:spcPct val="150000"/>
              </a:lnSpc>
            </a:pPr>
            <a:r>
              <a:rPr lang="zh-CN" altLang="en-US" sz="1400" kern="1700" dirty="0">
                <a:solidFill>
                  <a:srgbClr val="0C5D60"/>
                </a:solidFill>
                <a:latin typeface="思源黑体 CN Bold" panose="020B0800000000000000" pitchFamily="34" charset="-122"/>
                <a:ea typeface="思源黑体 CN Bold" panose="020B0800000000000000" pitchFamily="34" charset="-122"/>
              </a:rPr>
              <a:t>视频号：开源社</a:t>
            </a:r>
            <a:r>
              <a:rPr lang="en-US" sz="1400" kern="1700" dirty="0">
                <a:solidFill>
                  <a:srgbClr val="0C5D60"/>
                </a:solidFill>
                <a:latin typeface="思源黑体 CN Bold" panose="020B0800000000000000" pitchFamily="34" charset="-122"/>
                <a:ea typeface="思源黑体 CN Bold" panose="020B0800000000000000" pitchFamily="34" charset="-122"/>
              </a:rPr>
              <a:t>KAIYUANSHE</a:t>
            </a:r>
          </a:p>
          <a:p>
            <a:pPr>
              <a:lnSpc>
                <a:spcPct val="150000"/>
              </a:lnSpc>
            </a:pPr>
            <a:r>
              <a:rPr lang="zh-CN" altLang="en-US" sz="1400" kern="1700" dirty="0">
                <a:solidFill>
                  <a:srgbClr val="0C5D60"/>
                </a:solidFill>
                <a:latin typeface="思源黑体 CN Bold" panose="020B0800000000000000" pitchFamily="34" charset="-122"/>
                <a:ea typeface="思源黑体 CN Bold" panose="020B0800000000000000" pitchFamily="34" charset="-122"/>
              </a:rPr>
              <a:t>新浪微博：开源社</a:t>
            </a:r>
          </a:p>
          <a:p>
            <a:pPr>
              <a:lnSpc>
                <a:spcPct val="150000"/>
              </a:lnSpc>
            </a:pPr>
            <a:r>
              <a:rPr lang="en-US" sz="1400" kern="1700" dirty="0">
                <a:solidFill>
                  <a:srgbClr val="0C5D60"/>
                </a:solidFill>
                <a:latin typeface="思源黑体 CN Bold" panose="020B0800000000000000" pitchFamily="34" charset="-122"/>
                <a:ea typeface="思源黑体 CN Bold" panose="020B0800000000000000" pitchFamily="34" charset="-122"/>
              </a:rPr>
              <a:t>B</a:t>
            </a:r>
            <a:r>
              <a:rPr lang="zh-CN" altLang="en-US" sz="1400" kern="1700" dirty="0">
                <a:solidFill>
                  <a:srgbClr val="0C5D60"/>
                </a:solidFill>
                <a:latin typeface="思源黑体 CN Bold" panose="020B0800000000000000" pitchFamily="34" charset="-122"/>
                <a:ea typeface="思源黑体 CN Bold" panose="020B0800000000000000" pitchFamily="34" charset="-122"/>
              </a:rPr>
              <a:t>站：</a:t>
            </a:r>
            <a:r>
              <a:rPr lang="en-US" altLang="zh-CN" sz="1400" kern="1700" dirty="0">
                <a:solidFill>
                  <a:srgbClr val="0C5D60"/>
                </a:solidFill>
                <a:latin typeface="思源黑体 CN Bold" panose="020B0800000000000000" pitchFamily="34" charset="-122"/>
                <a:ea typeface="思源黑体 CN Bold" panose="020B0800000000000000" pitchFamily="34" charset="-122"/>
              </a:rPr>
              <a:t>2020</a:t>
            </a:r>
            <a:r>
              <a:rPr lang="zh-CN" altLang="en-US" sz="1400" kern="1700" dirty="0">
                <a:solidFill>
                  <a:srgbClr val="0C5D60"/>
                </a:solidFill>
                <a:latin typeface="思源黑体 CN Bold" panose="020B0800000000000000" pitchFamily="34" charset="-122"/>
                <a:ea typeface="思源黑体 CN Bold" panose="020B0800000000000000" pitchFamily="34" charset="-122"/>
              </a:rPr>
              <a:t>开源社</a:t>
            </a:r>
          </a:p>
        </p:txBody>
      </p:sp>
      <p:sp>
        <p:nvSpPr>
          <p:cNvPr id="32" name="文本框 31"/>
          <p:cNvSpPr txBox="1"/>
          <p:nvPr/>
        </p:nvSpPr>
        <p:spPr>
          <a:xfrm>
            <a:off x="9983533" y="5517336"/>
            <a:ext cx="1338828" cy="230832"/>
          </a:xfrm>
          <a:prstGeom prst="rect">
            <a:avLst/>
          </a:prstGeom>
          <a:noFill/>
        </p:spPr>
        <p:txBody>
          <a:bodyPr wrap="none" rtlCol="0">
            <a:spAutoFit/>
          </a:bodyPr>
          <a:lstStyle/>
          <a:p>
            <a:pPr algn="ctr"/>
            <a:r>
              <a:rPr lang="zh-CN" altLang="en-US" sz="900" b="1" dirty="0">
                <a:solidFill>
                  <a:srgbClr val="0C5D60"/>
                </a:solidFill>
                <a:latin typeface="思源黑体 CN Bold" panose="020B0800000000000000" pitchFamily="34" charset="-122"/>
                <a:ea typeface="思源黑体 CN Bold" panose="020B0800000000000000" pitchFamily="34" charset="-122"/>
              </a:rPr>
              <a:t>扫码关注开源社公众号</a:t>
            </a:r>
          </a:p>
        </p:txBody>
      </p:sp>
      <p:pic>
        <p:nvPicPr>
          <p:cNvPr id="38" name="图片 37">
            <a:extLst>
              <a:ext uri="{FF2B5EF4-FFF2-40B4-BE49-F238E27FC236}">
                <a16:creationId xmlns:a16="http://schemas.microsoft.com/office/drawing/2014/main" id="{75AC6CAB-F4B2-FA5C-1887-1C6DB5AC4D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97919" y="4208677"/>
            <a:ext cx="1310056" cy="1310056"/>
          </a:xfrm>
          <a:prstGeom prst="rect">
            <a:avLst/>
          </a:prstGeom>
        </p:spPr>
      </p:pic>
      <p:sp>
        <p:nvSpPr>
          <p:cNvPr id="40" name="Rectangle 50">
            <a:extLst>
              <a:ext uri="{FF2B5EF4-FFF2-40B4-BE49-F238E27FC236}">
                <a16:creationId xmlns:a16="http://schemas.microsoft.com/office/drawing/2014/main" id="{A95B26D1-2BEA-E2A2-E079-D4CEB56E1AE6}"/>
              </a:ext>
            </a:extLst>
          </p:cNvPr>
          <p:cNvSpPr/>
          <p:nvPr/>
        </p:nvSpPr>
        <p:spPr>
          <a:xfrm>
            <a:off x="4421954" y="4166389"/>
            <a:ext cx="2762295" cy="1350947"/>
          </a:xfrm>
          <a:prstGeom prst="rect">
            <a:avLst/>
          </a:prstGeom>
        </p:spPr>
        <p:txBody>
          <a:bodyPr wrap="none">
            <a:spAutoFit/>
          </a:bodyPr>
          <a:lstStyle/>
          <a:p>
            <a:pPr>
              <a:lnSpc>
                <a:spcPct val="150000"/>
              </a:lnSpc>
            </a:pPr>
            <a:r>
              <a:rPr lang="zh-CN" altLang="en-US" sz="1400" kern="1700" dirty="0">
                <a:solidFill>
                  <a:srgbClr val="0C5D60"/>
                </a:solidFill>
                <a:latin typeface="思源黑体 CN Bold" panose="020B0800000000000000" pitchFamily="34" charset="-122"/>
                <a:ea typeface="思源黑体 CN Bold" panose="020B0800000000000000" pitchFamily="34" charset="-122"/>
              </a:rPr>
              <a:t>简书：开源社</a:t>
            </a:r>
          </a:p>
          <a:p>
            <a:pPr>
              <a:lnSpc>
                <a:spcPct val="150000"/>
              </a:lnSpc>
            </a:pPr>
            <a:r>
              <a:rPr lang="zh-CN" altLang="en-US" sz="1400" kern="1700" dirty="0">
                <a:solidFill>
                  <a:srgbClr val="0C5D60"/>
                </a:solidFill>
                <a:latin typeface="思源黑体 CN Bold" panose="020B0800000000000000" pitchFamily="34" charset="-122"/>
                <a:ea typeface="思源黑体 CN Bold" panose="020B0800000000000000" pitchFamily="34" charset="-122"/>
              </a:rPr>
              <a:t>头条：开源社</a:t>
            </a:r>
          </a:p>
          <a:p>
            <a:pPr>
              <a:lnSpc>
                <a:spcPct val="150000"/>
              </a:lnSpc>
            </a:pPr>
            <a:r>
              <a:rPr lang="en-US" altLang="zh-CN" sz="1400" kern="1700" dirty="0">
                <a:solidFill>
                  <a:srgbClr val="0C5D60"/>
                </a:solidFill>
                <a:latin typeface="思源黑体 CN Bold" panose="020B0800000000000000" pitchFamily="34" charset="-122"/>
                <a:ea typeface="思源黑体 CN Bold" panose="020B0800000000000000" pitchFamily="34" charset="-122"/>
              </a:rPr>
              <a:t>Facebook</a:t>
            </a:r>
            <a:r>
              <a:rPr lang="zh-CN" altLang="en-US" sz="1400" kern="1700" dirty="0">
                <a:solidFill>
                  <a:srgbClr val="0C5D60"/>
                </a:solidFill>
                <a:latin typeface="思源黑体 CN Bold" panose="020B0800000000000000" pitchFamily="34" charset="-122"/>
                <a:ea typeface="思源黑体 CN Bold" panose="020B0800000000000000" pitchFamily="34" charset="-122"/>
              </a:rPr>
              <a:t>：</a:t>
            </a:r>
            <a:r>
              <a:rPr lang="en-US" altLang="zh-CN" sz="1400" kern="1700" dirty="0" err="1">
                <a:solidFill>
                  <a:srgbClr val="0C5D60"/>
                </a:solidFill>
                <a:latin typeface="思源黑体 CN Bold" panose="020B0800000000000000" pitchFamily="34" charset="-122"/>
                <a:ea typeface="思源黑体 CN Bold" panose="020B0800000000000000" pitchFamily="34" charset="-122"/>
              </a:rPr>
              <a:t>KaiyuansheChina</a:t>
            </a:r>
            <a:endParaRPr lang="en-US" altLang="zh-CN" sz="1400" kern="1700" dirty="0">
              <a:solidFill>
                <a:srgbClr val="0C5D60"/>
              </a:solidFill>
              <a:latin typeface="思源黑体 CN Bold" panose="020B0800000000000000" pitchFamily="34" charset="-122"/>
              <a:ea typeface="思源黑体 CN Bold" panose="020B0800000000000000" pitchFamily="34" charset="-122"/>
            </a:endParaRPr>
          </a:p>
          <a:p>
            <a:pPr>
              <a:lnSpc>
                <a:spcPct val="150000"/>
              </a:lnSpc>
            </a:pPr>
            <a:r>
              <a:rPr lang="en-US" altLang="zh-CN" sz="1400" kern="1700" dirty="0">
                <a:solidFill>
                  <a:srgbClr val="0C5D60"/>
                </a:solidFill>
                <a:latin typeface="思源黑体 CN Bold" panose="020B0800000000000000" pitchFamily="34" charset="-122"/>
                <a:ea typeface="思源黑体 CN Bold" panose="020B0800000000000000" pitchFamily="34" charset="-122"/>
              </a:rPr>
              <a:t>Twitter</a:t>
            </a:r>
            <a:r>
              <a:rPr lang="zh-CN" altLang="en-US" sz="1400" kern="1700" dirty="0">
                <a:solidFill>
                  <a:srgbClr val="0C5D60"/>
                </a:solidFill>
                <a:latin typeface="思源黑体 CN Bold" panose="020B0800000000000000" pitchFamily="34" charset="-122"/>
                <a:ea typeface="思源黑体 CN Bold" panose="020B0800000000000000" pitchFamily="34" charset="-122"/>
              </a:rPr>
              <a:t>：</a:t>
            </a:r>
            <a:r>
              <a:rPr lang="en-US" altLang="zh-CN" sz="1400" kern="1700" dirty="0">
                <a:solidFill>
                  <a:srgbClr val="0C5D60"/>
                </a:solidFill>
                <a:latin typeface="思源黑体 CN Bold" panose="020B0800000000000000" pitchFamily="34" charset="-122"/>
                <a:ea typeface="思源黑体 CN Bold" panose="020B0800000000000000" pitchFamily="34" charset="-122"/>
              </a:rPr>
              <a:t>KAIYUANSHE</a:t>
            </a:r>
          </a:p>
        </p:txBody>
      </p:sp>
      <p:pic>
        <p:nvPicPr>
          <p:cNvPr id="47" name="图片 46">
            <a:extLst>
              <a:ext uri="{FF2B5EF4-FFF2-40B4-BE49-F238E27FC236}">
                <a16:creationId xmlns:a16="http://schemas.microsoft.com/office/drawing/2014/main" id="{FB325FE4-F96A-8F94-D3EE-789E7FB72B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5262" y="-3505893"/>
            <a:ext cx="7899896" cy="7482868"/>
          </a:xfrm>
          <a:prstGeom prst="rect">
            <a:avLst/>
          </a:prstGeom>
        </p:spPr>
      </p:pic>
      <p:pic>
        <p:nvPicPr>
          <p:cNvPr id="48" name="图片 47">
            <a:extLst>
              <a:ext uri="{FF2B5EF4-FFF2-40B4-BE49-F238E27FC236}">
                <a16:creationId xmlns:a16="http://schemas.microsoft.com/office/drawing/2014/main" id="{AE0EC758-C3B2-F3D2-31FA-5110C1F1E6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9923" y="603813"/>
            <a:ext cx="1500379" cy="505590"/>
          </a:xfrm>
          <a:prstGeom prst="rect">
            <a:avLst/>
          </a:prstGeom>
        </p:spPr>
      </p:pic>
      <p:sp>
        <p:nvSpPr>
          <p:cNvPr id="49" name="文本框 48">
            <a:extLst>
              <a:ext uri="{FF2B5EF4-FFF2-40B4-BE49-F238E27FC236}">
                <a16:creationId xmlns:a16="http://schemas.microsoft.com/office/drawing/2014/main" id="{49B72637-DB6F-02FE-A1BA-4614B2AC3A09}"/>
              </a:ext>
            </a:extLst>
          </p:cNvPr>
          <p:cNvSpPr txBox="1"/>
          <p:nvPr/>
        </p:nvSpPr>
        <p:spPr>
          <a:xfrm>
            <a:off x="3736062" y="6219374"/>
            <a:ext cx="2514600" cy="276999"/>
          </a:xfrm>
          <a:prstGeom prst="rect">
            <a:avLst/>
          </a:prstGeom>
          <a:noFill/>
        </p:spPr>
        <p:txBody>
          <a:bodyPr wrap="square" rtlCol="0">
            <a:spAutoFit/>
          </a:bodyPr>
          <a:lstStyle/>
          <a:p>
            <a:pPr algn="ctr"/>
            <a:r>
              <a:rPr lang="en-US" altLang="zh-CN" sz="1200" dirty="0">
                <a:solidFill>
                  <a:srgbClr val="00A99D"/>
                </a:solidFill>
                <a:latin typeface="思源黑体 CN Bold" panose="020B0800000000000000" pitchFamily="34" charset="-122"/>
                <a:ea typeface="思源黑体 CN Bold" panose="020B0800000000000000" pitchFamily="34" charset="-122"/>
              </a:rPr>
              <a:t>2022 </a:t>
            </a:r>
            <a:r>
              <a:rPr lang="zh-CN" altLang="en-US" sz="1200" dirty="0">
                <a:solidFill>
                  <a:srgbClr val="00A99D"/>
                </a:solidFill>
                <a:latin typeface="思源黑体 CN Bold" panose="020B0800000000000000" pitchFamily="34" charset="-122"/>
                <a:ea typeface="思源黑体 CN Bold" panose="020B0800000000000000" pitchFamily="34" charset="-122"/>
              </a:rPr>
              <a:t>第七届中国开源年会</a:t>
            </a:r>
          </a:p>
        </p:txBody>
      </p:sp>
      <p:sp>
        <p:nvSpPr>
          <p:cNvPr id="50" name="文本框 49">
            <a:extLst>
              <a:ext uri="{FF2B5EF4-FFF2-40B4-BE49-F238E27FC236}">
                <a16:creationId xmlns:a16="http://schemas.microsoft.com/office/drawing/2014/main" id="{102606B6-57B4-3866-D562-4BBCAFCFCCEF}"/>
              </a:ext>
            </a:extLst>
          </p:cNvPr>
          <p:cNvSpPr txBox="1"/>
          <p:nvPr/>
        </p:nvSpPr>
        <p:spPr>
          <a:xfrm>
            <a:off x="6096000" y="6210662"/>
            <a:ext cx="2205275" cy="276999"/>
          </a:xfrm>
          <a:prstGeom prst="rect">
            <a:avLst/>
          </a:prstGeom>
          <a:noFill/>
        </p:spPr>
        <p:txBody>
          <a:bodyPr wrap="square" rtlCol="0">
            <a:spAutoFit/>
          </a:bodyPr>
          <a:lstStyle/>
          <a:p>
            <a:pPr algn="ctr"/>
            <a:r>
              <a:rPr lang="en-US" altLang="zh-CN" sz="1200" dirty="0">
                <a:solidFill>
                  <a:srgbClr val="00A99D"/>
                </a:solidFill>
                <a:latin typeface="思源黑体 CN Bold" panose="020B0800000000000000" pitchFamily="34" charset="-122"/>
                <a:ea typeface="思源黑体 CN Bold" panose="020B0800000000000000" pitchFamily="34" charset="-122"/>
              </a:rPr>
              <a:t>OPEN THE WORLD</a:t>
            </a:r>
            <a:endParaRPr lang="zh-CN" altLang="en-US" sz="1200" dirty="0">
              <a:solidFill>
                <a:srgbClr val="00A99D"/>
              </a:solidFill>
              <a:latin typeface="思源黑体 CN Bold" panose="020B0800000000000000" pitchFamily="34" charset="-122"/>
              <a:ea typeface="思源黑体 CN Bold" panose="020B0800000000000000" pitchFamily="34" charset="-122"/>
            </a:endParaRPr>
          </a:p>
        </p:txBody>
      </p:sp>
      <p:pic>
        <p:nvPicPr>
          <p:cNvPr id="11" name="图形 10">
            <a:extLst>
              <a:ext uri="{FF2B5EF4-FFF2-40B4-BE49-F238E27FC236}">
                <a16:creationId xmlns:a16="http://schemas.microsoft.com/office/drawing/2014/main" id="{269621B9-123D-9F07-D4B1-982AAD48C05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796256">
            <a:off x="4896069" y="3074485"/>
            <a:ext cx="194587" cy="184345"/>
          </a:xfrm>
          <a:prstGeom prst="rect">
            <a:avLst/>
          </a:prstGeom>
        </p:spPr>
      </p:pic>
      <p:pic>
        <p:nvPicPr>
          <p:cNvPr id="12" name="图形 11">
            <a:extLst>
              <a:ext uri="{FF2B5EF4-FFF2-40B4-BE49-F238E27FC236}">
                <a16:creationId xmlns:a16="http://schemas.microsoft.com/office/drawing/2014/main" id="{72CCD343-92A3-A1E5-4A6A-D65160DDBA6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488484">
            <a:off x="5675123" y="804161"/>
            <a:ext cx="407700" cy="386240"/>
          </a:xfrm>
          <a:prstGeom prst="rect">
            <a:avLst/>
          </a:prstGeom>
        </p:spPr>
      </p:pic>
      <p:pic>
        <p:nvPicPr>
          <p:cNvPr id="13" name="图形 12">
            <a:extLst>
              <a:ext uri="{FF2B5EF4-FFF2-40B4-BE49-F238E27FC236}">
                <a16:creationId xmlns:a16="http://schemas.microsoft.com/office/drawing/2014/main" id="{85E2C73F-36BC-18F4-5581-A0404132A95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8722003">
            <a:off x="9179619" y="3959766"/>
            <a:ext cx="280903" cy="266119"/>
          </a:xfrm>
          <a:prstGeom prst="rect">
            <a:avLst/>
          </a:prstGeom>
        </p:spPr>
      </p:pic>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randombar(horizontal)">
                                      <p:cBhvr>
                                        <p:cTn id="20" dur="50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randombar(horizontal)">
                                      <p:cBhvr>
                                        <p:cTn id="25" dur="500"/>
                                        <p:tgtEl>
                                          <p:spTgt spid="18"/>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randombar(horizontal)">
                                      <p:cBhvr>
                                        <p:cTn id="28" dur="500"/>
                                        <p:tgtEl>
                                          <p:spTgt spid="40"/>
                                        </p:tgtEl>
                                      </p:cBhvr>
                                    </p:animEffect>
                                  </p:childTnLst>
                                </p:cTn>
                              </p:par>
                              <p:par>
                                <p:cTn id="29" presetID="14" presetClass="entr" presetSubtype="10" fill="hold"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randombar(horizontal)">
                                      <p:cBhvr>
                                        <p:cTn id="31" dur="500"/>
                                        <p:tgtEl>
                                          <p:spTgt spid="38"/>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randombar(horizontal)">
                                      <p:cBhvr>
                                        <p:cTn id="3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18" grpId="0"/>
      <p:bldP spid="32" grpId="0"/>
      <p:bldP spid="40"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1167</TotalTime>
  <Words>951</Words>
  <Application>Microsoft Office PowerPoint</Application>
  <PresentationFormat>宽屏</PresentationFormat>
  <Paragraphs>141</Paragraphs>
  <Slides>22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22</vt:i4>
      </vt:variant>
    </vt:vector>
  </HeadingPairs>
  <TitlesOfParts>
    <vt:vector size="32" baseType="lpstr">
      <vt:lpstr>YouSheBiaoTiYuan</vt:lpstr>
      <vt:lpstr>等线</vt:lpstr>
      <vt:lpstr>等线 Light</vt:lpstr>
      <vt:lpstr>思源黑体 CN Bold</vt:lpstr>
      <vt:lpstr>思源黑体 CN Medium</vt:lpstr>
      <vt:lpstr>微软雅黑</vt:lpstr>
      <vt:lpstr>Arial</vt:lpstr>
      <vt:lpstr>Arial</vt:lpstr>
      <vt:lpstr>Verdana</vt:lpstr>
      <vt:lpstr>Office 主题​​</vt:lpstr>
      <vt:lpstr>国内开源文化观察 —现象、根因与出路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围绕开源的商业文化</vt:lpstr>
      <vt:lpstr>互联网文化</vt:lpstr>
      <vt:lpstr>互联网思维模式</vt:lpstr>
      <vt:lpstr>民族自强的文化是什么?</vt:lpstr>
      <vt:lpstr>在开源领域的民族自强</vt:lpstr>
      <vt:lpstr>文化冲突</vt:lpstr>
      <vt:lpstr>对治之法（一）</vt:lpstr>
      <vt:lpstr>对治之法（二）</vt:lpstr>
      <vt:lpstr>对治之法（三）</vt:lpstr>
      <vt:lpstr>生态型开源文化</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第七届中国开源年会 通用PPT模板</dc:title>
  <dc:creator>Teatee Grace</dc:creator>
  <cp:lastModifiedBy>BiaoWei Zhuang</cp:lastModifiedBy>
  <cp:revision>33</cp:revision>
  <dcterms:created xsi:type="dcterms:W3CDTF">2022-06-28T09:26:24Z</dcterms:created>
  <dcterms:modified xsi:type="dcterms:W3CDTF">2022-10-15T04:49:52Z</dcterms:modified>
</cp:coreProperties>
</file>